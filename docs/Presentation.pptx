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charset="1" panose="00000500000000000000"/>
      <p:regular r:id="rId17"/>
    </p:embeddedFont>
    <p:embeddedFont>
      <p:font typeface="Poppins Bold" charset="1" panose="00000800000000000000"/>
      <p:regular r:id="rId18"/>
    </p:embeddedFont>
    <p:embeddedFont>
      <p:font typeface="Arimo" charset="1" panose="020B0604020202020204"/>
      <p:regular r:id="rId19"/>
    </p:embeddedFont>
    <p:embeddedFont>
      <p:font typeface="Arimo Bold" charset="1" panose="020B07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 Id="rId4"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 Id="rId4" Target="../media/image1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522133" y="-8363444"/>
            <a:ext cx="20590236" cy="20590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628026" y="6970984"/>
            <a:ext cx="6966193" cy="1661868"/>
            <a:chOff x="0" y="0"/>
            <a:chExt cx="1628821" cy="388575"/>
          </a:xfrm>
        </p:grpSpPr>
        <p:sp>
          <p:nvSpPr>
            <p:cNvPr name="Freeform 6" id="6"/>
            <p:cNvSpPr/>
            <p:nvPr/>
          </p:nvSpPr>
          <p:spPr>
            <a:xfrm flipH="false" flipV="false" rot="0">
              <a:off x="0" y="0"/>
              <a:ext cx="1628822" cy="388575"/>
            </a:xfrm>
            <a:custGeom>
              <a:avLst/>
              <a:gdLst/>
              <a:ahLst/>
              <a:cxnLst/>
              <a:rect r="r" b="b" t="t" l="l"/>
              <a:pathLst>
                <a:path h="388575" w="1628822">
                  <a:moveTo>
                    <a:pt x="111136" y="0"/>
                  </a:moveTo>
                  <a:lnTo>
                    <a:pt x="1517686" y="0"/>
                  </a:lnTo>
                  <a:cubicBezTo>
                    <a:pt x="1547161" y="0"/>
                    <a:pt x="1575429" y="11709"/>
                    <a:pt x="1596271" y="32551"/>
                  </a:cubicBezTo>
                  <a:cubicBezTo>
                    <a:pt x="1617113" y="53393"/>
                    <a:pt x="1628822" y="81661"/>
                    <a:pt x="1628822" y="111136"/>
                  </a:cubicBezTo>
                  <a:lnTo>
                    <a:pt x="1628822" y="277439"/>
                  </a:lnTo>
                  <a:cubicBezTo>
                    <a:pt x="1628822" y="306914"/>
                    <a:pt x="1617113" y="335182"/>
                    <a:pt x="1596271" y="356024"/>
                  </a:cubicBezTo>
                  <a:cubicBezTo>
                    <a:pt x="1575429" y="376866"/>
                    <a:pt x="1547161" y="388575"/>
                    <a:pt x="1517686" y="388575"/>
                  </a:cubicBezTo>
                  <a:lnTo>
                    <a:pt x="111136" y="388575"/>
                  </a:lnTo>
                  <a:cubicBezTo>
                    <a:pt x="81661" y="388575"/>
                    <a:pt x="53393" y="376866"/>
                    <a:pt x="32551" y="356024"/>
                  </a:cubicBezTo>
                  <a:cubicBezTo>
                    <a:pt x="11709" y="335182"/>
                    <a:pt x="0" y="306914"/>
                    <a:pt x="0" y="277439"/>
                  </a:cubicBezTo>
                  <a:lnTo>
                    <a:pt x="0" y="111136"/>
                  </a:lnTo>
                  <a:cubicBezTo>
                    <a:pt x="0" y="81661"/>
                    <a:pt x="11709" y="53393"/>
                    <a:pt x="32551" y="32551"/>
                  </a:cubicBezTo>
                  <a:cubicBezTo>
                    <a:pt x="53393" y="11709"/>
                    <a:pt x="81661" y="0"/>
                    <a:pt x="111136" y="0"/>
                  </a:cubicBezTo>
                  <a:close/>
                </a:path>
              </a:pathLst>
            </a:custGeom>
            <a:solidFill>
              <a:srgbClr val="FFFFFF"/>
            </a:solidFill>
          </p:spPr>
        </p:sp>
        <p:sp>
          <p:nvSpPr>
            <p:cNvPr name="TextBox 7" id="7"/>
            <p:cNvSpPr txBox="true"/>
            <p:nvPr/>
          </p:nvSpPr>
          <p:spPr>
            <a:xfrm>
              <a:off x="0" y="-57150"/>
              <a:ext cx="1628821" cy="445725"/>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6788427" y="7414375"/>
            <a:ext cx="1805791" cy="538355"/>
            <a:chOff x="0" y="0"/>
            <a:chExt cx="422227" cy="125877"/>
          </a:xfrm>
        </p:grpSpPr>
        <p:sp>
          <p:nvSpPr>
            <p:cNvPr name="Freeform 9" id="9"/>
            <p:cNvSpPr/>
            <p:nvPr/>
          </p:nvSpPr>
          <p:spPr>
            <a:xfrm flipH="false" flipV="false" rot="0">
              <a:off x="0" y="0"/>
              <a:ext cx="422227" cy="125877"/>
            </a:xfrm>
            <a:custGeom>
              <a:avLst/>
              <a:gdLst/>
              <a:ahLst/>
              <a:cxnLst/>
              <a:rect r="r" b="b" t="t" l="l"/>
              <a:pathLst>
                <a:path h="125877" w="422227">
                  <a:moveTo>
                    <a:pt x="62939" y="0"/>
                  </a:moveTo>
                  <a:lnTo>
                    <a:pt x="359288" y="0"/>
                  </a:lnTo>
                  <a:cubicBezTo>
                    <a:pt x="375980" y="0"/>
                    <a:pt x="391989" y="6631"/>
                    <a:pt x="403792" y="18434"/>
                  </a:cubicBezTo>
                  <a:cubicBezTo>
                    <a:pt x="415596" y="30238"/>
                    <a:pt x="422227" y="46246"/>
                    <a:pt x="422227" y="62939"/>
                  </a:cubicBezTo>
                  <a:lnTo>
                    <a:pt x="422227" y="62939"/>
                  </a:lnTo>
                  <a:cubicBezTo>
                    <a:pt x="422227" y="79631"/>
                    <a:pt x="415596" y="95640"/>
                    <a:pt x="403792" y="107443"/>
                  </a:cubicBezTo>
                  <a:cubicBezTo>
                    <a:pt x="391989" y="119246"/>
                    <a:pt x="375980" y="125877"/>
                    <a:pt x="359288" y="125877"/>
                  </a:cubicBezTo>
                  <a:lnTo>
                    <a:pt x="62939" y="125877"/>
                  </a:lnTo>
                  <a:cubicBezTo>
                    <a:pt x="46246" y="125877"/>
                    <a:pt x="30238" y="119246"/>
                    <a:pt x="18434" y="107443"/>
                  </a:cubicBezTo>
                  <a:cubicBezTo>
                    <a:pt x="6631" y="95640"/>
                    <a:pt x="0" y="79631"/>
                    <a:pt x="0" y="62939"/>
                  </a:cubicBezTo>
                  <a:lnTo>
                    <a:pt x="0" y="62939"/>
                  </a:lnTo>
                  <a:cubicBezTo>
                    <a:pt x="0" y="46246"/>
                    <a:pt x="6631" y="30238"/>
                    <a:pt x="18434" y="18434"/>
                  </a:cubicBezTo>
                  <a:cubicBezTo>
                    <a:pt x="30238" y="6631"/>
                    <a:pt x="46246" y="0"/>
                    <a:pt x="62939" y="0"/>
                  </a:cubicBezTo>
                  <a:close/>
                </a:path>
              </a:pathLst>
            </a:custGeom>
            <a:gradFill rotWithShape="true">
              <a:gsLst>
                <a:gs pos="0">
                  <a:srgbClr val="240E3D">
                    <a:alpha val="100000"/>
                  </a:srgbClr>
                </a:gs>
                <a:gs pos="100000">
                  <a:srgbClr val="690088">
                    <a:alpha val="100000"/>
                  </a:srgbClr>
                </a:gs>
              </a:gsLst>
              <a:lin ang="0"/>
            </a:gradFill>
          </p:spPr>
        </p:sp>
        <p:sp>
          <p:nvSpPr>
            <p:cNvPr name="TextBox 10" id="10"/>
            <p:cNvSpPr txBox="true"/>
            <p:nvPr/>
          </p:nvSpPr>
          <p:spPr>
            <a:xfrm>
              <a:off x="0" y="-57150"/>
              <a:ext cx="422227" cy="183027"/>
            </a:xfrm>
            <a:prstGeom prst="rect">
              <a:avLst/>
            </a:prstGeom>
          </p:spPr>
          <p:txBody>
            <a:bodyPr anchor="ctr" rtlCol="false" tIns="50800" lIns="50800" bIns="50800" rIns="50800"/>
            <a:lstStyle/>
            <a:p>
              <a:pPr algn="ctr">
                <a:lnSpc>
                  <a:spcPts val="2799"/>
                </a:lnSpc>
              </a:pPr>
            </a:p>
          </p:txBody>
        </p:sp>
      </p:grpSp>
      <p:grpSp>
        <p:nvGrpSpPr>
          <p:cNvPr name="Group 11" id="11"/>
          <p:cNvGrpSpPr/>
          <p:nvPr/>
        </p:nvGrpSpPr>
        <p:grpSpPr>
          <a:xfrm rot="0">
            <a:off x="16650621" y="764048"/>
            <a:ext cx="608679" cy="608679"/>
            <a:chOff x="0" y="0"/>
            <a:chExt cx="285198" cy="285198"/>
          </a:xfrm>
        </p:grpSpPr>
        <p:sp>
          <p:nvSpPr>
            <p:cNvPr name="Freeform 12" id="12"/>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13" id="13"/>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14" id="14"/>
          <p:cNvGrpSpPr/>
          <p:nvPr/>
        </p:nvGrpSpPr>
        <p:grpSpPr>
          <a:xfrm rot="0">
            <a:off x="15362055" y="5436018"/>
            <a:ext cx="321025" cy="32102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7" id="17"/>
          <p:cNvGrpSpPr/>
          <p:nvPr/>
        </p:nvGrpSpPr>
        <p:grpSpPr>
          <a:xfrm rot="0">
            <a:off x="15912644" y="2808421"/>
            <a:ext cx="881574" cy="88157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20" id="20"/>
          <p:cNvGrpSpPr/>
          <p:nvPr/>
        </p:nvGrpSpPr>
        <p:grpSpPr>
          <a:xfrm rot="0">
            <a:off x="16040518" y="2936295"/>
            <a:ext cx="625825" cy="62582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23" id="23"/>
          <p:cNvSpPr/>
          <p:nvPr/>
        </p:nvSpPr>
        <p:spPr>
          <a:xfrm flipH="false" flipV="false" rot="0">
            <a:off x="-466798" y="773798"/>
            <a:ext cx="12211204" cy="6197186"/>
          </a:xfrm>
          <a:custGeom>
            <a:avLst/>
            <a:gdLst/>
            <a:ahLst/>
            <a:cxnLst/>
            <a:rect r="r" b="b" t="t" l="l"/>
            <a:pathLst>
              <a:path h="6197186" w="12211204">
                <a:moveTo>
                  <a:pt x="0" y="0"/>
                </a:moveTo>
                <a:lnTo>
                  <a:pt x="12211205" y="0"/>
                </a:lnTo>
                <a:lnTo>
                  <a:pt x="12211205" y="6197186"/>
                </a:lnTo>
                <a:lnTo>
                  <a:pt x="0" y="6197186"/>
                </a:lnTo>
                <a:lnTo>
                  <a:pt x="0" y="0"/>
                </a:lnTo>
                <a:close/>
              </a:path>
            </a:pathLst>
          </a:custGeom>
          <a:blipFill>
            <a:blip r:embed="rId2"/>
            <a:stretch>
              <a:fillRect l="0" t="0" r="0" b="0"/>
            </a:stretch>
          </a:blipFill>
        </p:spPr>
      </p:sp>
      <p:sp>
        <p:nvSpPr>
          <p:cNvPr name="Freeform 24" id="24"/>
          <p:cNvSpPr/>
          <p:nvPr/>
        </p:nvSpPr>
        <p:spPr>
          <a:xfrm flipH="false" flipV="false" rot="0">
            <a:off x="9515459" y="70728"/>
            <a:ext cx="9477123" cy="10530360"/>
          </a:xfrm>
          <a:custGeom>
            <a:avLst/>
            <a:gdLst/>
            <a:ahLst/>
            <a:cxnLst/>
            <a:rect r="r" b="b" t="t" l="l"/>
            <a:pathLst>
              <a:path h="10530360" w="9477123">
                <a:moveTo>
                  <a:pt x="0" y="0"/>
                </a:moveTo>
                <a:lnTo>
                  <a:pt x="9477123" y="0"/>
                </a:lnTo>
                <a:lnTo>
                  <a:pt x="9477123" y="10530361"/>
                </a:lnTo>
                <a:lnTo>
                  <a:pt x="0" y="10530361"/>
                </a:lnTo>
                <a:lnTo>
                  <a:pt x="0" y="0"/>
                </a:lnTo>
                <a:close/>
              </a:path>
            </a:pathLst>
          </a:custGeom>
          <a:blipFill>
            <a:blip r:embed="rId3">
              <a:alphaModFix amt="59000"/>
            </a:blip>
            <a:stretch>
              <a:fillRect l="-64709" t="0" r="-32825" b="0"/>
            </a:stretch>
          </a:blipFill>
        </p:spPr>
      </p:sp>
      <p:sp>
        <p:nvSpPr>
          <p:cNvPr name="TextBox 25" id="25"/>
          <p:cNvSpPr txBox="true"/>
          <p:nvPr/>
        </p:nvSpPr>
        <p:spPr>
          <a:xfrm rot="0">
            <a:off x="6603659" y="7408916"/>
            <a:ext cx="2175327" cy="425450"/>
          </a:xfrm>
          <a:prstGeom prst="rect">
            <a:avLst/>
          </a:prstGeom>
        </p:spPr>
        <p:txBody>
          <a:bodyPr anchor="t" rtlCol="false" tIns="0" lIns="0" bIns="0" rIns="0">
            <a:spAutoFit/>
          </a:bodyPr>
          <a:lstStyle/>
          <a:p>
            <a:pPr algn="ctr">
              <a:lnSpc>
                <a:spcPts val="3400"/>
              </a:lnSpc>
            </a:pPr>
            <a:r>
              <a:rPr lang="en-US" sz="2000">
                <a:solidFill>
                  <a:srgbClr val="FFFFFF"/>
                </a:solidFill>
                <a:latin typeface="Poppins"/>
                <a:ea typeface="Poppins"/>
                <a:cs typeface="Poppins"/>
                <a:sym typeface="Poppins"/>
              </a:rPr>
              <a:t>Get Started</a:t>
            </a:r>
          </a:p>
        </p:txBody>
      </p:sp>
      <p:sp>
        <p:nvSpPr>
          <p:cNvPr name="TextBox 26" id="26"/>
          <p:cNvSpPr txBox="true"/>
          <p:nvPr/>
        </p:nvSpPr>
        <p:spPr>
          <a:xfrm rot="0">
            <a:off x="1894957" y="7035156"/>
            <a:ext cx="5216405" cy="1711325"/>
          </a:xfrm>
          <a:prstGeom prst="rect">
            <a:avLst/>
          </a:prstGeom>
        </p:spPr>
        <p:txBody>
          <a:bodyPr anchor="t" rtlCol="false" tIns="0" lIns="0" bIns="0" rIns="0">
            <a:spAutoFit/>
          </a:bodyPr>
          <a:lstStyle/>
          <a:p>
            <a:pPr algn="just">
              <a:lnSpc>
                <a:spcPts val="3400"/>
              </a:lnSpc>
            </a:pPr>
            <a:r>
              <a:rPr lang="en-US" sz="2000">
                <a:solidFill>
                  <a:srgbClr val="0F0E0E"/>
                </a:solidFill>
                <a:latin typeface="Poppins"/>
                <a:ea typeface="Poppins"/>
                <a:cs typeface="Poppins"/>
                <a:sym typeface="Poppins"/>
              </a:rPr>
              <a:t>Presented By: Hams , Randa</a:t>
            </a:r>
          </a:p>
          <a:p>
            <a:pPr algn="just">
              <a:lnSpc>
                <a:spcPts val="3400"/>
              </a:lnSpc>
            </a:pPr>
            <a:r>
              <a:rPr lang="en-US" sz="2000">
                <a:solidFill>
                  <a:srgbClr val="0F0E0E"/>
                </a:solidFill>
                <a:latin typeface="Poppins"/>
                <a:ea typeface="Poppins"/>
                <a:cs typeface="Poppins"/>
                <a:sym typeface="Poppins"/>
              </a:rPr>
              <a:t>Supervised By: Dr: Passent Elkafrawy</a:t>
            </a:r>
          </a:p>
          <a:p>
            <a:pPr algn="just">
              <a:lnSpc>
                <a:spcPts val="3400"/>
              </a:lnSpc>
            </a:pPr>
            <a:r>
              <a:rPr lang="en-US" sz="2000">
                <a:solidFill>
                  <a:srgbClr val="0F0E0E"/>
                </a:solidFill>
                <a:latin typeface="Poppins"/>
                <a:ea typeface="Poppins"/>
                <a:cs typeface="Poppins"/>
                <a:sym typeface="Poppins"/>
              </a:rPr>
              <a:t>CS3072</a:t>
            </a:r>
          </a:p>
          <a:p>
            <a:pPr algn="just">
              <a:lnSpc>
                <a:spcPts val="3400"/>
              </a:lnSpc>
            </a:pPr>
          </a:p>
        </p:txBody>
      </p:sp>
      <p:sp>
        <p:nvSpPr>
          <p:cNvPr name="TextBox 27" id="27"/>
          <p:cNvSpPr txBox="true"/>
          <p:nvPr/>
        </p:nvSpPr>
        <p:spPr>
          <a:xfrm rot="0">
            <a:off x="-1659533" y="1912867"/>
            <a:ext cx="13971405" cy="3947622"/>
          </a:xfrm>
          <a:prstGeom prst="rect">
            <a:avLst/>
          </a:prstGeom>
        </p:spPr>
        <p:txBody>
          <a:bodyPr anchor="t" rtlCol="false" tIns="0" lIns="0" bIns="0" rIns="0">
            <a:spAutoFit/>
          </a:bodyPr>
          <a:lstStyle/>
          <a:p>
            <a:pPr algn="ctr">
              <a:lnSpc>
                <a:spcPts val="8910"/>
              </a:lnSpc>
            </a:pPr>
            <a:r>
              <a:rPr lang="en-US" b="true" sz="8327">
                <a:solidFill>
                  <a:srgbClr val="FFFFFF"/>
                </a:solidFill>
                <a:latin typeface="Poppins Bold"/>
                <a:ea typeface="Poppins Bold"/>
                <a:cs typeface="Poppins Bold"/>
                <a:sym typeface="Poppins Bold"/>
              </a:rPr>
              <a:t>FAKE NEWS </a:t>
            </a:r>
          </a:p>
          <a:p>
            <a:pPr algn="ctr">
              <a:lnSpc>
                <a:spcPts val="8910"/>
              </a:lnSpc>
            </a:pPr>
            <a:r>
              <a:rPr lang="en-US" b="true" sz="8327">
                <a:solidFill>
                  <a:srgbClr val="FFFFFF"/>
                </a:solidFill>
                <a:latin typeface="Poppins Bold"/>
                <a:ea typeface="Poppins Bold"/>
                <a:cs typeface="Poppins Bold"/>
                <a:sym typeface="Poppins Bold"/>
              </a:rPr>
              <a:t>DETECTION </a:t>
            </a:r>
          </a:p>
          <a:p>
            <a:pPr algn="ctr">
              <a:lnSpc>
                <a:spcPts val="8910"/>
              </a:lnSpc>
            </a:pPr>
            <a:r>
              <a:rPr lang="en-US" b="true" sz="8327">
                <a:solidFill>
                  <a:srgbClr val="FFFFFF"/>
                </a:solidFill>
                <a:latin typeface="Poppins Bold"/>
                <a:ea typeface="Poppins Bold"/>
                <a:cs typeface="Poppins Bold"/>
                <a:sym typeface="Poppins Bold"/>
              </a:rPr>
              <a:t>ON SOCIAL MEDIA </a:t>
            </a:r>
          </a:p>
          <a:p>
            <a:pPr algn="ctr">
              <a:lnSpc>
                <a:spcPts val="3989"/>
              </a:lnSpc>
            </a:pPr>
            <a:r>
              <a:rPr lang="en-US" b="true" sz="3728">
                <a:solidFill>
                  <a:srgbClr val="FFFFFF"/>
                </a:solidFill>
                <a:latin typeface="Poppins Bold"/>
                <a:ea typeface="Poppins Bold"/>
                <a:cs typeface="Poppins Bold"/>
                <a:sym typeface="Poppins Bold"/>
              </a:rPr>
              <a:t>USING TRANSFORMER-BASED MODELS</a:t>
            </a:r>
          </a:p>
        </p:txBody>
      </p:sp>
      <p:sp>
        <p:nvSpPr>
          <p:cNvPr name="Freeform 28" id="28"/>
          <p:cNvSpPr/>
          <p:nvPr/>
        </p:nvSpPr>
        <p:spPr>
          <a:xfrm flipH="false" flipV="false" rot="0">
            <a:off x="8233566" y="70728"/>
            <a:ext cx="10759015" cy="4024481"/>
          </a:xfrm>
          <a:custGeom>
            <a:avLst/>
            <a:gdLst/>
            <a:ahLst/>
            <a:cxnLst/>
            <a:rect r="r" b="b" t="t" l="l"/>
            <a:pathLst>
              <a:path h="4024481" w="10759015">
                <a:moveTo>
                  <a:pt x="0" y="0"/>
                </a:moveTo>
                <a:lnTo>
                  <a:pt x="10759016" y="0"/>
                </a:lnTo>
                <a:lnTo>
                  <a:pt x="10759016" y="4024481"/>
                </a:lnTo>
                <a:lnTo>
                  <a:pt x="0" y="4024481"/>
                </a:lnTo>
                <a:lnTo>
                  <a:pt x="0" y="0"/>
                </a:lnTo>
                <a:close/>
              </a:path>
            </a:pathLst>
          </a:custGeom>
          <a:blipFill>
            <a:blip r:embed="rId4"/>
            <a:stretch>
              <a:fillRect l="0" t="0" r="0" b="0"/>
            </a:stretch>
          </a:blipFill>
        </p:spPr>
      </p:sp>
      <p:sp>
        <p:nvSpPr>
          <p:cNvPr name="Freeform 29" id="29"/>
          <p:cNvSpPr/>
          <p:nvPr/>
        </p:nvSpPr>
        <p:spPr>
          <a:xfrm flipH="false" flipV="false" rot="-1662203">
            <a:off x="10741819" y="5664012"/>
            <a:ext cx="3140106" cy="2375062"/>
          </a:xfrm>
          <a:custGeom>
            <a:avLst/>
            <a:gdLst/>
            <a:ahLst/>
            <a:cxnLst/>
            <a:rect r="r" b="b" t="t" l="l"/>
            <a:pathLst>
              <a:path h="2375062" w="3140106">
                <a:moveTo>
                  <a:pt x="0" y="0"/>
                </a:moveTo>
                <a:lnTo>
                  <a:pt x="3140106" y="0"/>
                </a:lnTo>
                <a:lnTo>
                  <a:pt x="3140106" y="2375063"/>
                </a:lnTo>
                <a:lnTo>
                  <a:pt x="0" y="23750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098750" y="683284"/>
            <a:ext cx="9413549" cy="941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alphaModFix amt="37000"/>
              </a:blip>
              <a:stretch>
                <a:fillRect l="-25059" t="0" r="-25059" b="0"/>
              </a:stretch>
            </a:blipFill>
          </p:spPr>
        </p:sp>
      </p:grpSp>
      <p:sp>
        <p:nvSpPr>
          <p:cNvPr name="TextBox 4" id="4"/>
          <p:cNvSpPr txBox="true"/>
          <p:nvPr/>
        </p:nvSpPr>
        <p:spPr>
          <a:xfrm rot="0">
            <a:off x="1926665" y="990600"/>
            <a:ext cx="12837541" cy="1384301"/>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Problem</a:t>
            </a:r>
          </a:p>
          <a:p>
            <a:pPr algn="l">
              <a:lnSpc>
                <a:spcPts val="8560"/>
              </a:lnSpc>
            </a:pPr>
          </a:p>
        </p:txBody>
      </p:sp>
      <p:grpSp>
        <p:nvGrpSpPr>
          <p:cNvPr name="Group 5" id="5"/>
          <p:cNvGrpSpPr/>
          <p:nvPr/>
        </p:nvGrpSpPr>
        <p:grpSpPr>
          <a:xfrm rot="0">
            <a:off x="6393618" y="6367911"/>
            <a:ext cx="881574" cy="88157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028700" y="2439096"/>
            <a:ext cx="10070050" cy="7291165"/>
            <a:chOff x="0" y="0"/>
            <a:chExt cx="3242105" cy="2347428"/>
          </a:xfrm>
        </p:grpSpPr>
        <p:sp>
          <p:nvSpPr>
            <p:cNvPr name="Freeform 9" id="9"/>
            <p:cNvSpPr/>
            <p:nvPr/>
          </p:nvSpPr>
          <p:spPr>
            <a:xfrm flipH="false" flipV="false" rot="0">
              <a:off x="0" y="0"/>
              <a:ext cx="3242105" cy="2347428"/>
            </a:xfrm>
            <a:custGeom>
              <a:avLst/>
              <a:gdLst/>
              <a:ahLst/>
              <a:cxnLst/>
              <a:rect r="r" b="b" t="t" l="l"/>
              <a:pathLst>
                <a:path h="2347428" w="3242105">
                  <a:moveTo>
                    <a:pt x="31839" y="0"/>
                  </a:moveTo>
                  <a:lnTo>
                    <a:pt x="3210265" y="0"/>
                  </a:lnTo>
                  <a:cubicBezTo>
                    <a:pt x="3218710" y="0"/>
                    <a:pt x="3226808" y="3354"/>
                    <a:pt x="3232779" y="9325"/>
                  </a:cubicBezTo>
                  <a:cubicBezTo>
                    <a:pt x="3238750" y="15296"/>
                    <a:pt x="3242105" y="23395"/>
                    <a:pt x="3242105" y="31839"/>
                  </a:cubicBezTo>
                  <a:lnTo>
                    <a:pt x="3242105" y="2315589"/>
                  </a:lnTo>
                  <a:cubicBezTo>
                    <a:pt x="3242105" y="2333173"/>
                    <a:pt x="3227850" y="2347428"/>
                    <a:pt x="3210265" y="2347428"/>
                  </a:cubicBezTo>
                  <a:lnTo>
                    <a:pt x="31839" y="2347428"/>
                  </a:lnTo>
                  <a:cubicBezTo>
                    <a:pt x="14255" y="2347428"/>
                    <a:pt x="0" y="2333173"/>
                    <a:pt x="0" y="2315589"/>
                  </a:cubicBezTo>
                  <a:lnTo>
                    <a:pt x="0" y="31839"/>
                  </a:lnTo>
                  <a:cubicBezTo>
                    <a:pt x="0" y="14255"/>
                    <a:pt x="14255" y="0"/>
                    <a:pt x="31839" y="0"/>
                  </a:cubicBezTo>
                  <a:close/>
                </a:path>
              </a:pathLst>
            </a:custGeom>
            <a:gradFill rotWithShape="true">
              <a:gsLst>
                <a:gs pos="0">
                  <a:srgbClr val="240E3D">
                    <a:alpha val="100000"/>
                  </a:srgbClr>
                </a:gs>
                <a:gs pos="100000">
                  <a:srgbClr val="690088">
                    <a:alpha val="100000"/>
                  </a:srgbClr>
                </a:gs>
              </a:gsLst>
              <a:lin ang="0"/>
            </a:gradFill>
          </p:spPr>
        </p:sp>
        <p:sp>
          <p:nvSpPr>
            <p:cNvPr name="TextBox 10" id="10"/>
            <p:cNvSpPr txBox="true"/>
            <p:nvPr/>
          </p:nvSpPr>
          <p:spPr>
            <a:xfrm>
              <a:off x="0" y="-57150"/>
              <a:ext cx="3242105" cy="2404578"/>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424656" y="379167"/>
            <a:ext cx="14074352" cy="1878814"/>
          </a:xfrm>
          <a:custGeom>
            <a:avLst/>
            <a:gdLst/>
            <a:ahLst/>
            <a:cxnLst/>
            <a:rect r="r" b="b" t="t" l="l"/>
            <a:pathLst>
              <a:path h="1878814" w="14074352">
                <a:moveTo>
                  <a:pt x="0" y="0"/>
                </a:moveTo>
                <a:lnTo>
                  <a:pt x="14074352" y="0"/>
                </a:lnTo>
                <a:lnTo>
                  <a:pt x="14074352" y="1878814"/>
                </a:lnTo>
                <a:lnTo>
                  <a:pt x="0" y="1878814"/>
                </a:lnTo>
                <a:lnTo>
                  <a:pt x="0" y="0"/>
                </a:lnTo>
                <a:close/>
              </a:path>
            </a:pathLst>
          </a:custGeom>
          <a:blipFill>
            <a:blip r:embed="rId3"/>
            <a:stretch>
              <a:fillRect l="0" t="-110349" r="0" b="-273449"/>
            </a:stretch>
          </a:blipFill>
        </p:spPr>
      </p:sp>
      <p:sp>
        <p:nvSpPr>
          <p:cNvPr name="Freeform 12" id="12"/>
          <p:cNvSpPr/>
          <p:nvPr/>
        </p:nvSpPr>
        <p:spPr>
          <a:xfrm flipH="false" flipV="false" rot="0">
            <a:off x="11333421" y="4614649"/>
            <a:ext cx="1408985" cy="3506523"/>
          </a:xfrm>
          <a:custGeom>
            <a:avLst/>
            <a:gdLst/>
            <a:ahLst/>
            <a:cxnLst/>
            <a:rect r="r" b="b" t="t" l="l"/>
            <a:pathLst>
              <a:path h="3506523" w="1408985">
                <a:moveTo>
                  <a:pt x="0" y="0"/>
                </a:moveTo>
                <a:lnTo>
                  <a:pt x="1408984" y="0"/>
                </a:lnTo>
                <a:lnTo>
                  <a:pt x="1408984" y="3506523"/>
                </a:lnTo>
                <a:lnTo>
                  <a:pt x="0" y="3506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187127" y="2021007"/>
            <a:ext cx="9080576" cy="7237293"/>
          </a:xfrm>
          <a:prstGeom prst="rect">
            <a:avLst/>
          </a:prstGeom>
        </p:spPr>
        <p:txBody>
          <a:bodyPr anchor="t" rtlCol="false" tIns="0" lIns="0" bIns="0" rIns="0">
            <a:spAutoFit/>
          </a:bodyPr>
          <a:lstStyle/>
          <a:p>
            <a:pPr algn="just">
              <a:lnSpc>
                <a:spcPts val="3833"/>
              </a:lnSpc>
            </a:pPr>
          </a:p>
          <a:p>
            <a:pPr algn="just">
              <a:lnSpc>
                <a:spcPts val="3833"/>
              </a:lnSpc>
            </a:pPr>
          </a:p>
          <a:p>
            <a:pPr algn="just" marL="486833" indent="-243416" lvl="1">
              <a:lnSpc>
                <a:spcPts val="3833"/>
              </a:lnSpc>
              <a:buFont typeface="Arial"/>
              <a:buChar char="•"/>
            </a:pPr>
            <a:r>
              <a:rPr lang="en-US" sz="2254">
                <a:solidFill>
                  <a:srgbClr val="FFFFFF"/>
                </a:solidFill>
                <a:latin typeface="Poppins"/>
                <a:ea typeface="Poppins"/>
                <a:cs typeface="Poppins"/>
                <a:sym typeface="Poppins"/>
              </a:rPr>
              <a:t>The rise of social media has led to an explosive spread of information — both accurate and misleading.</a:t>
            </a:r>
          </a:p>
          <a:p>
            <a:pPr algn="just" marL="486833" indent="-243416" lvl="1">
              <a:lnSpc>
                <a:spcPts val="3833"/>
              </a:lnSpc>
              <a:buFont typeface="Arial"/>
              <a:buChar char="•"/>
            </a:pPr>
            <a:r>
              <a:rPr lang="en-US" sz="2254">
                <a:solidFill>
                  <a:srgbClr val="FFFFFF"/>
                </a:solidFill>
                <a:latin typeface="Poppins"/>
                <a:ea typeface="Poppins"/>
                <a:cs typeface="Poppins"/>
                <a:sym typeface="Poppins"/>
              </a:rPr>
              <a:t>Fake news has become a major global problem, influencing public opinion, politics, health decisions, and social behavior.</a:t>
            </a:r>
          </a:p>
          <a:p>
            <a:pPr algn="just" marL="486833" indent="-243416" lvl="1">
              <a:lnSpc>
                <a:spcPts val="3833"/>
              </a:lnSpc>
              <a:buFont typeface="Arial"/>
              <a:buChar char="•"/>
            </a:pPr>
            <a:r>
              <a:rPr lang="en-US" sz="2254">
                <a:solidFill>
                  <a:srgbClr val="FFFFFF"/>
                </a:solidFill>
                <a:latin typeface="Poppins"/>
                <a:ea typeface="Poppins"/>
                <a:cs typeface="Poppins"/>
                <a:sym typeface="Poppins"/>
              </a:rPr>
              <a:t>Identifying false information manually is slow, difficult, and not scalable.</a:t>
            </a:r>
          </a:p>
          <a:p>
            <a:pPr algn="just" marL="486833" indent="-243416" lvl="1">
              <a:lnSpc>
                <a:spcPts val="3833"/>
              </a:lnSpc>
              <a:buFont typeface="Arial"/>
              <a:buChar char="•"/>
            </a:pPr>
            <a:r>
              <a:rPr lang="en-US" sz="2254">
                <a:solidFill>
                  <a:srgbClr val="FFFFFF"/>
                </a:solidFill>
                <a:latin typeface="Poppins"/>
                <a:ea typeface="Poppins"/>
                <a:cs typeface="Poppins"/>
                <a:sym typeface="Poppins"/>
              </a:rPr>
              <a:t>This project aims to build an automated Fake News Detection System using transformer-based machine learning models.</a:t>
            </a:r>
          </a:p>
          <a:p>
            <a:pPr algn="just" marL="486833" indent="-243416" lvl="1">
              <a:lnSpc>
                <a:spcPts val="3833"/>
              </a:lnSpc>
              <a:buFont typeface="Arial"/>
              <a:buChar char="•"/>
            </a:pPr>
            <a:r>
              <a:rPr lang="en-US" sz="2254">
                <a:solidFill>
                  <a:srgbClr val="FFFFFF"/>
                </a:solidFill>
                <a:latin typeface="Poppins"/>
                <a:ea typeface="Poppins"/>
                <a:cs typeface="Poppins"/>
                <a:sym typeface="Poppins"/>
              </a:rPr>
              <a:t>By analyzing news headlines and text, the system classifies each article as REAL or FAKE with high accuracy.</a:t>
            </a:r>
          </a:p>
          <a:p>
            <a:pPr algn="just">
              <a:lnSpc>
                <a:spcPts val="3833"/>
              </a:lnSpc>
            </a:pPr>
          </a:p>
        </p:txBody>
      </p:sp>
      <p:sp>
        <p:nvSpPr>
          <p:cNvPr name="TextBox 14" id="14"/>
          <p:cNvSpPr txBox="true"/>
          <p:nvPr/>
        </p:nvSpPr>
        <p:spPr>
          <a:xfrm rot="0">
            <a:off x="1187127" y="782061"/>
            <a:ext cx="10850786" cy="1092077"/>
          </a:xfrm>
          <a:prstGeom prst="rect">
            <a:avLst/>
          </a:prstGeom>
        </p:spPr>
        <p:txBody>
          <a:bodyPr anchor="t" rtlCol="false" tIns="0" lIns="0" bIns="0" rIns="0">
            <a:spAutoFit/>
          </a:bodyPr>
          <a:lstStyle/>
          <a:p>
            <a:pPr algn="l">
              <a:lnSpc>
                <a:spcPts val="7811"/>
              </a:lnSpc>
            </a:pPr>
            <a:r>
              <a:rPr lang="en-US" sz="7300" b="true">
                <a:solidFill>
                  <a:srgbClr val="FFFFFF"/>
                </a:solidFill>
                <a:latin typeface="Poppins Bold"/>
                <a:ea typeface="Poppins Bold"/>
                <a:cs typeface="Poppins Bold"/>
                <a:sym typeface="Poppins Bold"/>
              </a:rPr>
              <a:t>problem Explanation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8102976" y="764048"/>
            <a:ext cx="9401617" cy="8995890"/>
            <a:chOff x="0" y="0"/>
            <a:chExt cx="3026899" cy="2896273"/>
          </a:xfrm>
        </p:grpSpPr>
        <p:sp>
          <p:nvSpPr>
            <p:cNvPr name="Freeform 6" id="6"/>
            <p:cNvSpPr/>
            <p:nvPr/>
          </p:nvSpPr>
          <p:spPr>
            <a:xfrm flipH="false" flipV="false" rot="0">
              <a:off x="0" y="0"/>
              <a:ext cx="3026899" cy="2896273"/>
            </a:xfrm>
            <a:custGeom>
              <a:avLst/>
              <a:gdLst/>
              <a:ahLst/>
              <a:cxnLst/>
              <a:rect r="r" b="b" t="t" l="l"/>
              <a:pathLst>
                <a:path h="2896273" w="3026899">
                  <a:moveTo>
                    <a:pt x="34103" y="0"/>
                  </a:moveTo>
                  <a:lnTo>
                    <a:pt x="2992796" y="0"/>
                  </a:lnTo>
                  <a:cubicBezTo>
                    <a:pt x="3001841" y="0"/>
                    <a:pt x="3010515" y="3593"/>
                    <a:pt x="3016911" y="9988"/>
                  </a:cubicBezTo>
                  <a:cubicBezTo>
                    <a:pt x="3023306" y="16384"/>
                    <a:pt x="3026899" y="25058"/>
                    <a:pt x="3026899" y="34103"/>
                  </a:cubicBezTo>
                  <a:lnTo>
                    <a:pt x="3026899" y="2862170"/>
                  </a:lnTo>
                  <a:cubicBezTo>
                    <a:pt x="3026899" y="2871215"/>
                    <a:pt x="3023306" y="2879889"/>
                    <a:pt x="3016911" y="2886285"/>
                  </a:cubicBezTo>
                  <a:cubicBezTo>
                    <a:pt x="3010515" y="2892680"/>
                    <a:pt x="3001841" y="2896273"/>
                    <a:pt x="2992796" y="2896273"/>
                  </a:cubicBezTo>
                  <a:lnTo>
                    <a:pt x="34103" y="2896273"/>
                  </a:lnTo>
                  <a:cubicBezTo>
                    <a:pt x="25058" y="2896273"/>
                    <a:pt x="16384" y="2892680"/>
                    <a:pt x="9988" y="2886285"/>
                  </a:cubicBezTo>
                  <a:cubicBezTo>
                    <a:pt x="3593" y="2879889"/>
                    <a:pt x="0" y="2871215"/>
                    <a:pt x="0" y="2862170"/>
                  </a:cubicBezTo>
                  <a:lnTo>
                    <a:pt x="0" y="34103"/>
                  </a:lnTo>
                  <a:cubicBezTo>
                    <a:pt x="0" y="25058"/>
                    <a:pt x="3593" y="16384"/>
                    <a:pt x="9988" y="9988"/>
                  </a:cubicBezTo>
                  <a:cubicBezTo>
                    <a:pt x="16384" y="3593"/>
                    <a:pt x="25058" y="0"/>
                    <a:pt x="34103"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026899" cy="2953423"/>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28862" y="0"/>
            <a:ext cx="8419182" cy="3384988"/>
          </a:xfrm>
          <a:custGeom>
            <a:avLst/>
            <a:gdLst/>
            <a:ahLst/>
            <a:cxnLst/>
            <a:rect r="r" b="b" t="t" l="l"/>
            <a:pathLst>
              <a:path h="3384988" w="8419182">
                <a:moveTo>
                  <a:pt x="0" y="0"/>
                </a:moveTo>
                <a:lnTo>
                  <a:pt x="8419182" y="0"/>
                </a:lnTo>
                <a:lnTo>
                  <a:pt x="8419182" y="3384988"/>
                </a:lnTo>
                <a:lnTo>
                  <a:pt x="0" y="3384988"/>
                </a:lnTo>
                <a:lnTo>
                  <a:pt x="0" y="0"/>
                </a:lnTo>
                <a:close/>
              </a:path>
            </a:pathLst>
          </a:custGeom>
          <a:blipFill>
            <a:blip r:embed="rId2"/>
            <a:stretch>
              <a:fillRect l="0" t="-36218" r="-21404" b="-58795"/>
            </a:stretch>
          </a:blipFill>
        </p:spPr>
      </p:sp>
      <p:sp>
        <p:nvSpPr>
          <p:cNvPr name="Freeform 9" id="9"/>
          <p:cNvSpPr/>
          <p:nvPr/>
        </p:nvSpPr>
        <p:spPr>
          <a:xfrm flipH="false" flipV="false" rot="0">
            <a:off x="510194" y="3210489"/>
            <a:ext cx="7456518" cy="7297906"/>
          </a:xfrm>
          <a:custGeom>
            <a:avLst/>
            <a:gdLst/>
            <a:ahLst/>
            <a:cxnLst/>
            <a:rect r="r" b="b" t="t" l="l"/>
            <a:pathLst>
              <a:path h="7297906" w="7456518">
                <a:moveTo>
                  <a:pt x="0" y="0"/>
                </a:moveTo>
                <a:lnTo>
                  <a:pt x="7456518" y="0"/>
                </a:lnTo>
                <a:lnTo>
                  <a:pt x="7456518" y="7297906"/>
                </a:lnTo>
                <a:lnTo>
                  <a:pt x="0" y="7297906"/>
                </a:lnTo>
                <a:lnTo>
                  <a:pt x="0" y="0"/>
                </a:lnTo>
                <a:close/>
              </a:path>
            </a:pathLst>
          </a:custGeom>
          <a:blipFill>
            <a:blip r:embed="rId3"/>
            <a:stretch>
              <a:fillRect l="-24902" t="0" r="-24902" b="0"/>
            </a:stretch>
          </a:blipFill>
        </p:spPr>
      </p:sp>
      <p:sp>
        <p:nvSpPr>
          <p:cNvPr name="TextBox 10" id="10"/>
          <p:cNvSpPr txBox="true"/>
          <p:nvPr/>
        </p:nvSpPr>
        <p:spPr>
          <a:xfrm rot="0">
            <a:off x="1588637" y="660681"/>
            <a:ext cx="6378075" cy="2082677"/>
          </a:xfrm>
          <a:prstGeom prst="rect">
            <a:avLst/>
          </a:prstGeom>
        </p:spPr>
        <p:txBody>
          <a:bodyPr anchor="t" rtlCol="false" tIns="0" lIns="0" bIns="0" rIns="0">
            <a:spAutoFit/>
          </a:bodyPr>
          <a:lstStyle/>
          <a:p>
            <a:pPr algn="l">
              <a:lnSpc>
                <a:spcPts val="7811"/>
              </a:lnSpc>
            </a:pPr>
            <a:r>
              <a:rPr lang="en-US" sz="7300" b="true">
                <a:solidFill>
                  <a:srgbClr val="FFFFFF"/>
                </a:solidFill>
                <a:latin typeface="Poppins Bold"/>
                <a:ea typeface="Poppins Bold"/>
                <a:cs typeface="Poppins Bold"/>
                <a:sym typeface="Poppins Bold"/>
              </a:rPr>
              <a:t>Dataset Description </a:t>
            </a:r>
          </a:p>
        </p:txBody>
      </p:sp>
      <p:sp>
        <p:nvSpPr>
          <p:cNvPr name="TextBox 11" id="11"/>
          <p:cNvSpPr txBox="true"/>
          <p:nvPr/>
        </p:nvSpPr>
        <p:spPr>
          <a:xfrm rot="0">
            <a:off x="8284332" y="629214"/>
            <a:ext cx="9038906" cy="8971423"/>
          </a:xfrm>
          <a:prstGeom prst="rect">
            <a:avLst/>
          </a:prstGeom>
        </p:spPr>
        <p:txBody>
          <a:bodyPr anchor="t" rtlCol="false" tIns="0" lIns="0" bIns="0" rIns="0">
            <a:spAutoFit/>
          </a:bodyPr>
          <a:lstStyle/>
          <a:p>
            <a:pPr algn="l">
              <a:lnSpc>
                <a:spcPts val="3566"/>
              </a:lnSpc>
            </a:pPr>
          </a:p>
          <a:p>
            <a:pPr algn="l">
              <a:lnSpc>
                <a:spcPts val="3566"/>
              </a:lnSpc>
            </a:pPr>
            <a:r>
              <a:rPr lang="en-US" sz="2547" b="true">
                <a:solidFill>
                  <a:srgbClr val="FFFFFF"/>
                </a:solidFill>
                <a:latin typeface="Arimo Bold"/>
                <a:ea typeface="Arimo Bold"/>
                <a:cs typeface="Arimo Bold"/>
                <a:sym typeface="Arimo Bold"/>
              </a:rPr>
              <a:t>Datasets Used</a:t>
            </a:r>
          </a:p>
          <a:p>
            <a:pPr algn="l">
              <a:lnSpc>
                <a:spcPts val="3566"/>
              </a:lnSpc>
            </a:pPr>
            <a:r>
              <a:rPr lang="en-US" sz="2547" b="true">
                <a:solidFill>
                  <a:srgbClr val="FFFFFF"/>
                </a:solidFill>
                <a:latin typeface="Arimo Bold"/>
                <a:ea typeface="Arimo Bold"/>
                <a:cs typeface="Arimo Bold"/>
                <a:sym typeface="Arimo Bold"/>
              </a:rPr>
              <a:t>For this fake news detection project, two primary datasets are utilized:</a:t>
            </a:r>
          </a:p>
          <a:p>
            <a:pPr algn="l" marL="550058" indent="-275029" lvl="1">
              <a:lnSpc>
                <a:spcPts val="3566"/>
              </a:lnSpc>
              <a:buFont typeface="Arial"/>
              <a:buChar char="•"/>
            </a:pPr>
            <a:r>
              <a:rPr lang="en-US" b="true" sz="2547">
                <a:solidFill>
                  <a:srgbClr val="FFFFFF"/>
                </a:solidFill>
                <a:latin typeface="Arimo Bold"/>
                <a:ea typeface="Arimo Bold"/>
                <a:cs typeface="Arimo Bold"/>
                <a:sym typeface="Arimo Bold"/>
              </a:rPr>
              <a:t>Fake.csv: Contains articles labeled as fake news. (23,481 rows, 4 columns)</a:t>
            </a:r>
          </a:p>
          <a:p>
            <a:pPr algn="l" marL="550058" indent="-275029" lvl="1">
              <a:lnSpc>
                <a:spcPts val="3566"/>
              </a:lnSpc>
              <a:buFont typeface="Arial"/>
              <a:buChar char="•"/>
            </a:pPr>
            <a:r>
              <a:rPr lang="en-US" b="true" sz="2547">
                <a:solidFill>
                  <a:srgbClr val="FFFFFF"/>
                </a:solidFill>
                <a:latin typeface="Arimo Bold"/>
                <a:ea typeface="Arimo Bold"/>
                <a:cs typeface="Arimo Bold"/>
                <a:sym typeface="Arimo Bold"/>
              </a:rPr>
              <a:t>True.csv: Contains articles labeled as true news. (21,417 rows, 4 columns)</a:t>
            </a:r>
          </a:p>
          <a:p>
            <a:pPr algn="l">
              <a:lnSpc>
                <a:spcPts val="3566"/>
              </a:lnSpc>
            </a:pPr>
            <a:r>
              <a:rPr lang="en-US" sz="2547" b="true">
                <a:solidFill>
                  <a:srgbClr val="FFFFFF"/>
                </a:solidFill>
                <a:latin typeface="Arimo Bold"/>
                <a:ea typeface="Arimo Bold"/>
                <a:cs typeface="Arimo Bold"/>
                <a:sym typeface="Arimo Bold"/>
              </a:rPr>
              <a:t>Common Columns:</a:t>
            </a:r>
          </a:p>
          <a:p>
            <a:pPr algn="l" marL="550058" indent="-275029" lvl="1">
              <a:lnSpc>
                <a:spcPts val="3566"/>
              </a:lnSpc>
              <a:buAutoNum type="arabicPeriod" startAt="1"/>
            </a:pPr>
            <a:r>
              <a:rPr lang="en-US" b="true" sz="2547">
                <a:solidFill>
                  <a:srgbClr val="FFFFFF"/>
                </a:solidFill>
                <a:latin typeface="Arimo Bold"/>
                <a:ea typeface="Arimo Bold"/>
                <a:cs typeface="Arimo Bold"/>
                <a:sym typeface="Arimo Bold"/>
              </a:rPr>
              <a:t>title: The headline or title of the news article.</a:t>
            </a:r>
          </a:p>
          <a:p>
            <a:pPr algn="l" marL="550058" indent="-275029" lvl="1">
              <a:lnSpc>
                <a:spcPts val="3566"/>
              </a:lnSpc>
              <a:buAutoNum type="arabicPeriod" startAt="1"/>
            </a:pPr>
            <a:r>
              <a:rPr lang="en-US" b="true" sz="2547">
                <a:solidFill>
                  <a:srgbClr val="FFFFFF"/>
                </a:solidFill>
                <a:latin typeface="Arimo Bold"/>
                <a:ea typeface="Arimo Bold"/>
                <a:cs typeface="Arimo Bold"/>
                <a:sym typeface="Arimo Bold"/>
              </a:rPr>
              <a:t>text: The main body or full content of the news article.</a:t>
            </a:r>
          </a:p>
          <a:p>
            <a:pPr algn="l" marL="550058" indent="-275029" lvl="1">
              <a:lnSpc>
                <a:spcPts val="3566"/>
              </a:lnSpc>
              <a:buAutoNum type="arabicPeriod" startAt="1"/>
            </a:pPr>
            <a:r>
              <a:rPr lang="en-US" b="true" sz="2547">
                <a:solidFill>
                  <a:srgbClr val="FFFFFF"/>
                </a:solidFill>
                <a:latin typeface="Arimo Bold"/>
                <a:ea typeface="Arimo Bold"/>
                <a:cs typeface="Arimo Bold"/>
                <a:sym typeface="Arimo Bold"/>
              </a:rPr>
              <a:t>subject: The general topic or category of the news (e.g., 'News', 'politicsNews').</a:t>
            </a:r>
          </a:p>
          <a:p>
            <a:pPr algn="l" marL="550058" indent="-275029" lvl="1">
              <a:lnSpc>
                <a:spcPts val="3566"/>
              </a:lnSpc>
              <a:buAutoNum type="arabicPeriod" startAt="1"/>
            </a:pPr>
            <a:r>
              <a:rPr lang="en-US" b="true" sz="2547">
                <a:solidFill>
                  <a:srgbClr val="FFFFFF"/>
                </a:solidFill>
                <a:latin typeface="Arimo Bold"/>
                <a:ea typeface="Arimo Bold"/>
                <a:cs typeface="Arimo Bold"/>
                <a:sym typeface="Arimo Bold"/>
              </a:rPr>
              <a:t>date: The publication date of the news article.</a:t>
            </a:r>
          </a:p>
          <a:p>
            <a:pPr algn="l">
              <a:lnSpc>
                <a:spcPts val="3566"/>
              </a:lnSpc>
            </a:pPr>
            <a:r>
              <a:rPr lang="en-US" sz="2547" b="true">
                <a:solidFill>
                  <a:srgbClr val="FFFFFF"/>
                </a:solidFill>
                <a:latin typeface="Arimo Bold"/>
                <a:ea typeface="Arimo Bold"/>
                <a:cs typeface="Arimo Bold"/>
                <a:sym typeface="Arimo Bold"/>
              </a:rPr>
              <a:t>Rationale for Selection:</a:t>
            </a:r>
          </a:p>
          <a:p>
            <a:pPr algn="l">
              <a:lnSpc>
                <a:spcPts val="3566"/>
              </a:lnSpc>
            </a:pPr>
            <a:r>
              <a:rPr lang="en-US" sz="2547" b="true">
                <a:solidFill>
                  <a:srgbClr val="FFFFFF"/>
                </a:solidFill>
                <a:latin typeface="Arimo Bold"/>
                <a:ea typeface="Arimo Bold"/>
                <a:cs typeface="Arimo Bold"/>
                <a:sym typeface="Arimo Bold"/>
              </a:rPr>
              <a:t>These datasets were chosen because they provide a clear, labeled ground truth, essential for training and evaluating supervised machine learning models to distinguish between credible and misleading content.</a:t>
            </a:r>
          </a:p>
          <a:p>
            <a:pPr algn="l">
              <a:lnSpc>
                <a:spcPts val="3566"/>
              </a:lnSpc>
            </a:pPr>
          </a:p>
        </p:txBody>
      </p:sp>
      <p:sp>
        <p:nvSpPr>
          <p:cNvPr name="Freeform 12" id="12"/>
          <p:cNvSpPr/>
          <p:nvPr/>
        </p:nvSpPr>
        <p:spPr>
          <a:xfrm flipH="false" flipV="false" rot="0">
            <a:off x="384440" y="3210489"/>
            <a:ext cx="7708025" cy="6612463"/>
          </a:xfrm>
          <a:custGeom>
            <a:avLst/>
            <a:gdLst/>
            <a:ahLst/>
            <a:cxnLst/>
            <a:rect r="r" b="b" t="t" l="l"/>
            <a:pathLst>
              <a:path h="6612463" w="7708025">
                <a:moveTo>
                  <a:pt x="0" y="0"/>
                </a:moveTo>
                <a:lnTo>
                  <a:pt x="7708026" y="0"/>
                </a:lnTo>
                <a:lnTo>
                  <a:pt x="7708026" y="6612463"/>
                </a:lnTo>
                <a:lnTo>
                  <a:pt x="0" y="6612463"/>
                </a:lnTo>
                <a:lnTo>
                  <a:pt x="0" y="0"/>
                </a:lnTo>
                <a:close/>
              </a:path>
            </a:pathLst>
          </a:custGeom>
          <a:blipFill>
            <a:blip r:embed="rId4">
              <a:alphaModFix amt="68000"/>
            </a:blip>
            <a:stretch>
              <a:fillRect l="-11998" t="0" r="-40453"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645599" y="1547761"/>
            <a:ext cx="20590236" cy="20590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true" flipV="false" rot="0">
            <a:off x="13686091" y="6535096"/>
            <a:ext cx="5572817" cy="4374662"/>
          </a:xfrm>
          <a:custGeom>
            <a:avLst/>
            <a:gdLst/>
            <a:ahLst/>
            <a:cxnLst/>
            <a:rect r="r" b="b" t="t" l="l"/>
            <a:pathLst>
              <a:path h="4374662" w="5572817">
                <a:moveTo>
                  <a:pt x="5572818" y="0"/>
                </a:moveTo>
                <a:lnTo>
                  <a:pt x="0" y="0"/>
                </a:lnTo>
                <a:lnTo>
                  <a:pt x="0" y="4374662"/>
                </a:lnTo>
                <a:lnTo>
                  <a:pt x="5572818" y="4374662"/>
                </a:lnTo>
                <a:lnTo>
                  <a:pt x="5572818" y="0"/>
                </a:lnTo>
                <a:close/>
              </a:path>
            </a:pathLst>
          </a:custGeom>
          <a:blipFill>
            <a:blip r:embed="rId2"/>
            <a:stretch>
              <a:fillRect l="0" t="0" r="0" b="0"/>
            </a:stretch>
          </a:blipFill>
        </p:spPr>
      </p:sp>
      <p:grpSp>
        <p:nvGrpSpPr>
          <p:cNvPr name="Group 6" id="6"/>
          <p:cNvGrpSpPr/>
          <p:nvPr/>
        </p:nvGrpSpPr>
        <p:grpSpPr>
          <a:xfrm rot="0">
            <a:off x="6393569" y="7797889"/>
            <a:ext cx="321025" cy="3210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0196188" y="2529803"/>
            <a:ext cx="881574" cy="88157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0324062" y="2657677"/>
            <a:ext cx="625825" cy="62582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5" id="15"/>
          <p:cNvSpPr/>
          <p:nvPr/>
        </p:nvSpPr>
        <p:spPr>
          <a:xfrm flipH="false" flipV="false" rot="0">
            <a:off x="14370335" y="-341656"/>
            <a:ext cx="2888965" cy="2600608"/>
          </a:xfrm>
          <a:custGeom>
            <a:avLst/>
            <a:gdLst/>
            <a:ahLst/>
            <a:cxnLst/>
            <a:rect r="r" b="b" t="t" l="l"/>
            <a:pathLst>
              <a:path h="2600608" w="2888965">
                <a:moveTo>
                  <a:pt x="0" y="0"/>
                </a:moveTo>
                <a:lnTo>
                  <a:pt x="2888965" y="0"/>
                </a:lnTo>
                <a:lnTo>
                  <a:pt x="2888965" y="2600607"/>
                </a:lnTo>
                <a:lnTo>
                  <a:pt x="0" y="2600607"/>
                </a:lnTo>
                <a:lnTo>
                  <a:pt x="0" y="0"/>
                </a:lnTo>
                <a:close/>
              </a:path>
            </a:pathLst>
          </a:custGeom>
          <a:blipFill>
            <a:blip r:embed="rId3"/>
            <a:stretch>
              <a:fillRect l="0" t="0" r="0" b="0"/>
            </a:stretch>
          </a:blipFill>
        </p:spPr>
      </p:sp>
      <p:sp>
        <p:nvSpPr>
          <p:cNvPr name="Freeform 16" id="16"/>
          <p:cNvSpPr/>
          <p:nvPr/>
        </p:nvSpPr>
        <p:spPr>
          <a:xfrm flipH="false" flipV="false" rot="0">
            <a:off x="8038344" y="2464776"/>
            <a:ext cx="8848521" cy="4070320"/>
          </a:xfrm>
          <a:custGeom>
            <a:avLst/>
            <a:gdLst/>
            <a:ahLst/>
            <a:cxnLst/>
            <a:rect r="r" b="b" t="t" l="l"/>
            <a:pathLst>
              <a:path h="4070320" w="8848521">
                <a:moveTo>
                  <a:pt x="0" y="0"/>
                </a:moveTo>
                <a:lnTo>
                  <a:pt x="8848522" y="0"/>
                </a:lnTo>
                <a:lnTo>
                  <a:pt x="8848522" y="4070320"/>
                </a:lnTo>
                <a:lnTo>
                  <a:pt x="0" y="4070320"/>
                </a:lnTo>
                <a:lnTo>
                  <a:pt x="0" y="0"/>
                </a:lnTo>
                <a:close/>
              </a:path>
            </a:pathLst>
          </a:custGeom>
          <a:blipFill>
            <a:blip r:embed="rId4">
              <a:alphaModFix amt="57000"/>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311156" y="0"/>
            <a:ext cx="7439470" cy="10509481"/>
          </a:xfrm>
          <a:custGeom>
            <a:avLst/>
            <a:gdLst/>
            <a:ahLst/>
            <a:cxnLst/>
            <a:rect r="r" b="b" t="t" l="l"/>
            <a:pathLst>
              <a:path h="10509481" w="7439470">
                <a:moveTo>
                  <a:pt x="0" y="0"/>
                </a:moveTo>
                <a:lnTo>
                  <a:pt x="7439471" y="0"/>
                </a:lnTo>
                <a:lnTo>
                  <a:pt x="7439471" y="10509481"/>
                </a:lnTo>
                <a:lnTo>
                  <a:pt x="0" y="10509481"/>
                </a:lnTo>
                <a:lnTo>
                  <a:pt x="0" y="0"/>
                </a:lnTo>
                <a:close/>
              </a:path>
            </a:pathLst>
          </a:custGeom>
          <a:blipFill>
            <a:blip r:embed="rId6">
              <a:alphaModFix amt="49000"/>
            </a:blip>
            <a:stretch>
              <a:fillRect l="-29467" t="0" r="-121578" b="0"/>
            </a:stretch>
          </a:blipFill>
        </p:spPr>
      </p:sp>
      <p:sp>
        <p:nvSpPr>
          <p:cNvPr name="TextBox 18" id="18"/>
          <p:cNvSpPr txBox="true"/>
          <p:nvPr/>
        </p:nvSpPr>
        <p:spPr>
          <a:xfrm rot="0">
            <a:off x="8495486" y="2297051"/>
            <a:ext cx="8391380" cy="4443870"/>
          </a:xfrm>
          <a:prstGeom prst="rect">
            <a:avLst/>
          </a:prstGeom>
        </p:spPr>
        <p:txBody>
          <a:bodyPr anchor="t" rtlCol="false" tIns="0" lIns="0" bIns="0" rIns="0">
            <a:spAutoFit/>
          </a:bodyPr>
          <a:lstStyle/>
          <a:p>
            <a:pPr algn="l" marL="0" indent="0" lvl="0">
              <a:lnSpc>
                <a:spcPts val="11371"/>
              </a:lnSpc>
              <a:spcBef>
                <a:spcPct val="0"/>
              </a:spcBef>
            </a:pPr>
            <a:r>
              <a:rPr lang="en-US" b="true" sz="10627">
                <a:solidFill>
                  <a:srgbClr val="FFFFFF"/>
                </a:solidFill>
                <a:latin typeface="Poppins Bold"/>
                <a:ea typeface="Poppins Bold"/>
                <a:cs typeface="Poppins Bold"/>
                <a:sym typeface="Poppins Bold"/>
              </a:rPr>
              <a:t>MACHINE LEARNING MODELS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725956" y="2279107"/>
            <a:ext cx="11366990" cy="6979193"/>
            <a:chOff x="0" y="0"/>
            <a:chExt cx="3659661" cy="2246987"/>
          </a:xfrm>
        </p:grpSpPr>
        <p:sp>
          <p:nvSpPr>
            <p:cNvPr name="Freeform 6" id="6"/>
            <p:cNvSpPr/>
            <p:nvPr/>
          </p:nvSpPr>
          <p:spPr>
            <a:xfrm flipH="false" flipV="false" rot="0">
              <a:off x="0" y="0"/>
              <a:ext cx="3659661" cy="2246987"/>
            </a:xfrm>
            <a:custGeom>
              <a:avLst/>
              <a:gdLst/>
              <a:ahLst/>
              <a:cxnLst/>
              <a:rect r="r" b="b" t="t" l="l"/>
              <a:pathLst>
                <a:path h="2246987" w="3659661">
                  <a:moveTo>
                    <a:pt x="28206" y="0"/>
                  </a:moveTo>
                  <a:lnTo>
                    <a:pt x="3631455" y="0"/>
                  </a:lnTo>
                  <a:cubicBezTo>
                    <a:pt x="3647033" y="0"/>
                    <a:pt x="3659661" y="12628"/>
                    <a:pt x="3659661" y="28206"/>
                  </a:cubicBezTo>
                  <a:lnTo>
                    <a:pt x="3659661" y="2218781"/>
                  </a:lnTo>
                  <a:cubicBezTo>
                    <a:pt x="3659661" y="2234359"/>
                    <a:pt x="3647033" y="2246987"/>
                    <a:pt x="3631455" y="2246987"/>
                  </a:cubicBezTo>
                  <a:lnTo>
                    <a:pt x="28206" y="2246987"/>
                  </a:lnTo>
                  <a:cubicBezTo>
                    <a:pt x="12628" y="2246987"/>
                    <a:pt x="0" y="2234359"/>
                    <a:pt x="0" y="2218781"/>
                  </a:cubicBezTo>
                  <a:lnTo>
                    <a:pt x="0" y="28206"/>
                  </a:lnTo>
                  <a:cubicBezTo>
                    <a:pt x="0" y="12628"/>
                    <a:pt x="12628" y="0"/>
                    <a:pt x="28206"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659661" cy="2304137"/>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725956" y="1881857"/>
            <a:ext cx="11290309" cy="7283450"/>
          </a:xfrm>
          <a:prstGeom prst="rect">
            <a:avLst/>
          </a:prstGeom>
        </p:spPr>
        <p:txBody>
          <a:bodyPr anchor="t" rtlCol="false" tIns="0" lIns="0" bIns="0" rIns="0">
            <a:spAutoFit/>
          </a:bodyPr>
          <a:lstStyle/>
          <a:p>
            <a:pPr algn="just">
              <a:lnSpc>
                <a:spcPts val="3400"/>
              </a:lnSpc>
            </a:pPr>
          </a:p>
          <a:p>
            <a:pPr algn="just">
              <a:lnSpc>
                <a:spcPts val="3400"/>
              </a:lnSpc>
            </a:pPr>
            <a:r>
              <a:rPr lang="en-US" sz="2000" b="true">
                <a:solidFill>
                  <a:srgbClr val="FFFFFF"/>
                </a:solidFill>
                <a:latin typeface="Poppins Bold"/>
                <a:ea typeface="Poppins Bold"/>
                <a:cs typeface="Poppins Bold"/>
                <a:sym typeface="Poppins Bold"/>
              </a:rPr>
              <a:t>This served as our initial baseline model. Text data was transformed into numerical features using TF-IDF which quantifies the importance of words. These features were then fed into a Logistic Regression classifier, a traditional and interpretable machine learning model.</a:t>
            </a:r>
          </a:p>
          <a:p>
            <a:pPr algn="just">
              <a:lnSpc>
                <a:spcPts val="3400"/>
              </a:lnSpc>
            </a:pPr>
          </a:p>
          <a:p>
            <a:pPr algn="just">
              <a:lnSpc>
                <a:spcPts val="3400"/>
              </a:lnSpc>
            </a:pPr>
            <a:r>
              <a:rPr lang="en-US" sz="2000" b="true">
                <a:solidFill>
                  <a:srgbClr val="FFFFFF"/>
                </a:solidFill>
                <a:latin typeface="Poppins Bold"/>
                <a:ea typeface="Poppins Bold"/>
                <a:cs typeface="Poppins Bold"/>
                <a:sym typeface="Poppins Bold"/>
              </a:rPr>
              <a:t>Results on Validation Set:</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Accuracy: 0.9909</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Precision: 0.9946</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Recall: 0.9881</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F1 Score: 0.9913</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Confusion Matrix: [[3194 19], [42 3480]] (19 False Positives, 42 False Negatives)</a:t>
            </a:r>
          </a:p>
          <a:p>
            <a:pPr algn="just">
              <a:lnSpc>
                <a:spcPts val="3400"/>
              </a:lnSpc>
            </a:pPr>
            <a:r>
              <a:rPr lang="en-US" sz="2000" b="true">
                <a:solidFill>
                  <a:srgbClr val="FFFFFF"/>
                </a:solidFill>
                <a:latin typeface="Poppins Bold"/>
                <a:ea typeface="Poppins Bold"/>
                <a:cs typeface="Poppins Bold"/>
                <a:sym typeface="Poppins Bold"/>
              </a:rPr>
              <a:t>Interpretation:</a:t>
            </a:r>
          </a:p>
          <a:p>
            <a:pPr algn="just">
              <a:lnSpc>
                <a:spcPts val="3400"/>
              </a:lnSpc>
            </a:pPr>
            <a:r>
              <a:rPr lang="en-US" sz="2000" b="true">
                <a:solidFill>
                  <a:srgbClr val="FFFFFF"/>
                </a:solidFill>
                <a:latin typeface="Poppins Bold"/>
                <a:ea typeface="Poppins Bold"/>
                <a:cs typeface="Poppins Bold"/>
                <a:sym typeface="Poppins Bold"/>
              </a:rPr>
              <a:t>This simple baseline model performed remarkably well, indicating that the dataset is highly separable and TF-IDF features effectively capture differences between real and fake news. This set a high bar for subsequent, more complex models.</a:t>
            </a:r>
          </a:p>
          <a:p>
            <a:pPr algn="just">
              <a:lnSpc>
                <a:spcPts val="3400"/>
              </a:lnSpc>
            </a:pPr>
          </a:p>
        </p:txBody>
      </p:sp>
      <p:grpSp>
        <p:nvGrpSpPr>
          <p:cNvPr name="Group 9" id="9"/>
          <p:cNvGrpSpPr/>
          <p:nvPr/>
        </p:nvGrpSpPr>
        <p:grpSpPr>
          <a:xfrm rot="0">
            <a:off x="14934954" y="1372727"/>
            <a:ext cx="321025" cy="32102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802637" y="241811"/>
            <a:ext cx="13888406" cy="1770892"/>
          </a:xfrm>
          <a:prstGeom prst="rect">
            <a:avLst/>
          </a:prstGeom>
        </p:spPr>
        <p:txBody>
          <a:bodyPr anchor="t" rtlCol="false" tIns="0" lIns="0" bIns="0" rIns="0">
            <a:spAutoFit/>
          </a:bodyPr>
          <a:lstStyle/>
          <a:p>
            <a:pPr algn="l">
              <a:lnSpc>
                <a:spcPts val="6741"/>
              </a:lnSpc>
            </a:pPr>
            <a:r>
              <a:rPr lang="en-US" sz="6300" b="true">
                <a:solidFill>
                  <a:srgbClr val="FFFFFF"/>
                </a:solidFill>
                <a:latin typeface="Poppins Bold"/>
                <a:ea typeface="Poppins Bold"/>
                <a:cs typeface="Poppins Bold"/>
                <a:sym typeface="Poppins Bold"/>
              </a:rPr>
              <a:t>Model 1: TF-IDF + Logistic Regression (Baseline)</a:t>
            </a:r>
          </a:p>
        </p:txBody>
      </p:sp>
      <p:sp>
        <p:nvSpPr>
          <p:cNvPr name="Freeform 13" id="13"/>
          <p:cNvSpPr/>
          <p:nvPr/>
        </p:nvSpPr>
        <p:spPr>
          <a:xfrm flipH="false" flipV="false" rot="3106505">
            <a:off x="13668083" y="-68457"/>
            <a:ext cx="1849627" cy="1665009"/>
          </a:xfrm>
          <a:custGeom>
            <a:avLst/>
            <a:gdLst/>
            <a:ahLst/>
            <a:cxnLst/>
            <a:rect r="r" b="b" t="t" l="l"/>
            <a:pathLst>
              <a:path h="1665009" w="1849627">
                <a:moveTo>
                  <a:pt x="0" y="0"/>
                </a:moveTo>
                <a:lnTo>
                  <a:pt x="1849627" y="0"/>
                </a:lnTo>
                <a:lnTo>
                  <a:pt x="1849627" y="1665009"/>
                </a:lnTo>
                <a:lnTo>
                  <a:pt x="0" y="1665009"/>
                </a:lnTo>
                <a:lnTo>
                  <a:pt x="0" y="0"/>
                </a:lnTo>
                <a:close/>
              </a:path>
            </a:pathLst>
          </a:custGeom>
          <a:blipFill>
            <a:blip r:embed="rId2"/>
            <a:stretch>
              <a:fillRect l="0" t="0" r="0" b="0"/>
            </a:stretch>
          </a:blipFill>
        </p:spPr>
      </p:sp>
      <p:sp>
        <p:nvSpPr>
          <p:cNvPr name="Freeform 14" id="14"/>
          <p:cNvSpPr/>
          <p:nvPr/>
        </p:nvSpPr>
        <p:spPr>
          <a:xfrm flipH="false" flipV="false" rot="5400000">
            <a:off x="11261901" y="3200883"/>
            <a:ext cx="7988155" cy="4331844"/>
          </a:xfrm>
          <a:custGeom>
            <a:avLst/>
            <a:gdLst/>
            <a:ahLst/>
            <a:cxnLst/>
            <a:rect r="r" b="b" t="t" l="l"/>
            <a:pathLst>
              <a:path h="4331844" w="7988155">
                <a:moveTo>
                  <a:pt x="0" y="0"/>
                </a:moveTo>
                <a:lnTo>
                  <a:pt x="7988155" y="0"/>
                </a:lnTo>
                <a:lnTo>
                  <a:pt x="7988155" y="4331844"/>
                </a:lnTo>
                <a:lnTo>
                  <a:pt x="0" y="4331844"/>
                </a:lnTo>
                <a:lnTo>
                  <a:pt x="0" y="0"/>
                </a:lnTo>
                <a:close/>
              </a:path>
            </a:pathLst>
          </a:custGeom>
          <a:blipFill>
            <a:blip r:embed="rId3"/>
            <a:stretch>
              <a:fillRect l="-22256" t="0" r="0" b="-26773"/>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725956" y="2279107"/>
            <a:ext cx="11366990" cy="6979193"/>
            <a:chOff x="0" y="0"/>
            <a:chExt cx="3659661" cy="2246987"/>
          </a:xfrm>
        </p:grpSpPr>
        <p:sp>
          <p:nvSpPr>
            <p:cNvPr name="Freeform 6" id="6"/>
            <p:cNvSpPr/>
            <p:nvPr/>
          </p:nvSpPr>
          <p:spPr>
            <a:xfrm flipH="false" flipV="false" rot="0">
              <a:off x="0" y="0"/>
              <a:ext cx="3659661" cy="2246987"/>
            </a:xfrm>
            <a:custGeom>
              <a:avLst/>
              <a:gdLst/>
              <a:ahLst/>
              <a:cxnLst/>
              <a:rect r="r" b="b" t="t" l="l"/>
              <a:pathLst>
                <a:path h="2246987" w="3659661">
                  <a:moveTo>
                    <a:pt x="28206" y="0"/>
                  </a:moveTo>
                  <a:lnTo>
                    <a:pt x="3631455" y="0"/>
                  </a:lnTo>
                  <a:cubicBezTo>
                    <a:pt x="3647033" y="0"/>
                    <a:pt x="3659661" y="12628"/>
                    <a:pt x="3659661" y="28206"/>
                  </a:cubicBezTo>
                  <a:lnTo>
                    <a:pt x="3659661" y="2218781"/>
                  </a:lnTo>
                  <a:cubicBezTo>
                    <a:pt x="3659661" y="2234359"/>
                    <a:pt x="3647033" y="2246987"/>
                    <a:pt x="3631455" y="2246987"/>
                  </a:cubicBezTo>
                  <a:lnTo>
                    <a:pt x="28206" y="2246987"/>
                  </a:lnTo>
                  <a:cubicBezTo>
                    <a:pt x="12628" y="2246987"/>
                    <a:pt x="0" y="2234359"/>
                    <a:pt x="0" y="2218781"/>
                  </a:cubicBezTo>
                  <a:lnTo>
                    <a:pt x="0" y="28206"/>
                  </a:lnTo>
                  <a:cubicBezTo>
                    <a:pt x="0" y="12628"/>
                    <a:pt x="12628" y="0"/>
                    <a:pt x="28206"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659661" cy="2304137"/>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1028700" y="1881857"/>
            <a:ext cx="10761502" cy="8140700"/>
          </a:xfrm>
          <a:prstGeom prst="rect">
            <a:avLst/>
          </a:prstGeom>
        </p:spPr>
        <p:txBody>
          <a:bodyPr anchor="t" rtlCol="false" tIns="0" lIns="0" bIns="0" rIns="0">
            <a:spAutoFit/>
          </a:bodyPr>
          <a:lstStyle/>
          <a:p>
            <a:pPr algn="just">
              <a:lnSpc>
                <a:spcPts val="3400"/>
              </a:lnSpc>
            </a:pPr>
          </a:p>
          <a:p>
            <a:pPr algn="just">
              <a:lnSpc>
                <a:spcPts val="3400"/>
              </a:lnSpc>
            </a:pPr>
            <a:r>
              <a:rPr lang="en-US" sz="2000" b="true">
                <a:solidFill>
                  <a:srgbClr val="FFFFFF"/>
                </a:solidFill>
                <a:latin typeface="Poppins Bold"/>
                <a:ea typeface="Poppins Bold"/>
                <a:cs typeface="Poppins Bold"/>
                <a:sym typeface="Poppins Bold"/>
              </a:rPr>
              <a:t>We implemented a Long Short-Term Memory (LSTM) neural network, a type of Recurrent Neural Network (RNN) particularly effective for sequential data like text. The LSTM model processes text word-by-word, capturing long-range dependencies and context.</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Training: The model was trained for 3 epochs using binary_crossentropy loss and the adam optimizer.</a:t>
            </a:r>
          </a:p>
          <a:p>
            <a:pPr algn="just">
              <a:lnSpc>
                <a:spcPts val="3400"/>
              </a:lnSpc>
            </a:pPr>
            <a:r>
              <a:rPr lang="en-US" sz="2000" b="true">
                <a:solidFill>
                  <a:srgbClr val="FFFFFF"/>
                </a:solidFill>
                <a:latin typeface="Poppins Bold"/>
                <a:ea typeface="Poppins Bold"/>
                <a:cs typeface="Poppins Bold"/>
                <a:sym typeface="Poppins Bold"/>
              </a:rPr>
              <a:t>Results on Validation Set:</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Accuracy: 0.9987</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Precision: 0.9983</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Recall: 0.9991</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F1 Score: 0.9987</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Confusion Matrix: [[3207 6], [3 3519]] (6 False Positives, 3 False Negatives)</a:t>
            </a:r>
          </a:p>
          <a:p>
            <a:pPr algn="just">
              <a:lnSpc>
                <a:spcPts val="3400"/>
              </a:lnSpc>
            </a:pPr>
            <a:r>
              <a:rPr lang="en-US" sz="2000" b="true">
                <a:solidFill>
                  <a:srgbClr val="FFFFFF"/>
                </a:solidFill>
                <a:latin typeface="Poppins Bold"/>
                <a:ea typeface="Poppins Bold"/>
                <a:cs typeface="Poppins Bold"/>
                <a:sym typeface="Poppins Bold"/>
              </a:rPr>
              <a:t>Interpretation:</a:t>
            </a:r>
          </a:p>
          <a:p>
            <a:pPr algn="just">
              <a:lnSpc>
                <a:spcPts val="3400"/>
              </a:lnSpc>
            </a:pPr>
            <a:r>
              <a:rPr lang="en-US" sz="2000" b="true">
                <a:solidFill>
                  <a:srgbClr val="FFFFFF"/>
                </a:solidFill>
                <a:latin typeface="Poppins Bold"/>
                <a:ea typeface="Poppins Bold"/>
                <a:cs typeface="Poppins Bold"/>
                <a:sym typeface="Poppins Bold"/>
              </a:rPr>
              <a:t>LSTM significantly improved upon the baseline, demonstrating its ability to understand the sequential nature of text and further reduce classification errors. Its high performance confirmed the value of deep learning for this task.</a:t>
            </a:r>
          </a:p>
          <a:p>
            <a:pPr algn="just">
              <a:lnSpc>
                <a:spcPts val="3400"/>
              </a:lnSpc>
            </a:pPr>
          </a:p>
          <a:p>
            <a:pPr algn="just">
              <a:lnSpc>
                <a:spcPts val="3400"/>
              </a:lnSpc>
            </a:pPr>
          </a:p>
        </p:txBody>
      </p:sp>
      <p:grpSp>
        <p:nvGrpSpPr>
          <p:cNvPr name="Group 9" id="9"/>
          <p:cNvGrpSpPr/>
          <p:nvPr/>
        </p:nvGrpSpPr>
        <p:grpSpPr>
          <a:xfrm rot="0">
            <a:off x="14934954" y="1372727"/>
            <a:ext cx="321025" cy="32102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373931" y="610072"/>
            <a:ext cx="16581030" cy="923167"/>
          </a:xfrm>
          <a:prstGeom prst="rect">
            <a:avLst/>
          </a:prstGeom>
        </p:spPr>
        <p:txBody>
          <a:bodyPr anchor="t" rtlCol="false" tIns="0" lIns="0" bIns="0" rIns="0">
            <a:spAutoFit/>
          </a:bodyPr>
          <a:lstStyle/>
          <a:p>
            <a:pPr algn="l">
              <a:lnSpc>
                <a:spcPts val="6741"/>
              </a:lnSpc>
            </a:pPr>
            <a:r>
              <a:rPr lang="en-US" sz="6300" b="true">
                <a:solidFill>
                  <a:srgbClr val="FFFFFF"/>
                </a:solidFill>
                <a:latin typeface="Poppins Bold"/>
                <a:ea typeface="Poppins Bold"/>
                <a:cs typeface="Poppins Bold"/>
                <a:sym typeface="Poppins Bold"/>
              </a:rPr>
              <a:t>Model 2: LSTM (Deep Baseline)</a:t>
            </a:r>
          </a:p>
        </p:txBody>
      </p:sp>
      <p:sp>
        <p:nvSpPr>
          <p:cNvPr name="Freeform 13" id="13"/>
          <p:cNvSpPr/>
          <p:nvPr/>
        </p:nvSpPr>
        <p:spPr>
          <a:xfrm flipH="false" flipV="false" rot="3106505">
            <a:off x="13668083" y="-68457"/>
            <a:ext cx="1849627" cy="1665009"/>
          </a:xfrm>
          <a:custGeom>
            <a:avLst/>
            <a:gdLst/>
            <a:ahLst/>
            <a:cxnLst/>
            <a:rect r="r" b="b" t="t" l="l"/>
            <a:pathLst>
              <a:path h="1665009" w="1849627">
                <a:moveTo>
                  <a:pt x="0" y="0"/>
                </a:moveTo>
                <a:lnTo>
                  <a:pt x="1849627" y="0"/>
                </a:lnTo>
                <a:lnTo>
                  <a:pt x="1849627" y="1665009"/>
                </a:lnTo>
                <a:lnTo>
                  <a:pt x="0" y="1665009"/>
                </a:lnTo>
                <a:lnTo>
                  <a:pt x="0" y="0"/>
                </a:lnTo>
                <a:close/>
              </a:path>
            </a:pathLst>
          </a:custGeom>
          <a:blipFill>
            <a:blip r:embed="rId2"/>
            <a:stretch>
              <a:fillRect l="0" t="0" r="0" b="0"/>
            </a:stretch>
          </a:blipFill>
        </p:spPr>
      </p:sp>
      <p:sp>
        <p:nvSpPr>
          <p:cNvPr name="Freeform 14" id="14"/>
          <p:cNvSpPr/>
          <p:nvPr/>
        </p:nvSpPr>
        <p:spPr>
          <a:xfrm flipH="false" flipV="false" rot="5400000">
            <a:off x="11099300" y="3361395"/>
            <a:ext cx="7988155" cy="4331844"/>
          </a:xfrm>
          <a:custGeom>
            <a:avLst/>
            <a:gdLst/>
            <a:ahLst/>
            <a:cxnLst/>
            <a:rect r="r" b="b" t="t" l="l"/>
            <a:pathLst>
              <a:path h="4331844" w="7988155">
                <a:moveTo>
                  <a:pt x="0" y="0"/>
                </a:moveTo>
                <a:lnTo>
                  <a:pt x="7988156" y="0"/>
                </a:lnTo>
                <a:lnTo>
                  <a:pt x="7988156" y="4331844"/>
                </a:lnTo>
                <a:lnTo>
                  <a:pt x="0" y="4331844"/>
                </a:lnTo>
                <a:lnTo>
                  <a:pt x="0" y="0"/>
                </a:lnTo>
                <a:close/>
              </a:path>
            </a:pathLst>
          </a:custGeom>
          <a:blipFill>
            <a:blip r:embed="rId3"/>
            <a:stretch>
              <a:fillRect l="-22256" t="0" r="0" b="-26773"/>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725956" y="1812298"/>
            <a:ext cx="11366990" cy="7446002"/>
            <a:chOff x="0" y="0"/>
            <a:chExt cx="3659661" cy="2397279"/>
          </a:xfrm>
        </p:grpSpPr>
        <p:sp>
          <p:nvSpPr>
            <p:cNvPr name="Freeform 6" id="6"/>
            <p:cNvSpPr/>
            <p:nvPr/>
          </p:nvSpPr>
          <p:spPr>
            <a:xfrm flipH="false" flipV="false" rot="0">
              <a:off x="0" y="0"/>
              <a:ext cx="3659661" cy="2397279"/>
            </a:xfrm>
            <a:custGeom>
              <a:avLst/>
              <a:gdLst/>
              <a:ahLst/>
              <a:cxnLst/>
              <a:rect r="r" b="b" t="t" l="l"/>
              <a:pathLst>
                <a:path h="2397279" w="3659661">
                  <a:moveTo>
                    <a:pt x="28206" y="0"/>
                  </a:moveTo>
                  <a:lnTo>
                    <a:pt x="3631455" y="0"/>
                  </a:lnTo>
                  <a:cubicBezTo>
                    <a:pt x="3647033" y="0"/>
                    <a:pt x="3659661" y="12628"/>
                    <a:pt x="3659661" y="28206"/>
                  </a:cubicBezTo>
                  <a:lnTo>
                    <a:pt x="3659661" y="2369072"/>
                  </a:lnTo>
                  <a:cubicBezTo>
                    <a:pt x="3659661" y="2384650"/>
                    <a:pt x="3647033" y="2397279"/>
                    <a:pt x="3631455" y="2397279"/>
                  </a:cubicBezTo>
                  <a:lnTo>
                    <a:pt x="28206" y="2397279"/>
                  </a:lnTo>
                  <a:cubicBezTo>
                    <a:pt x="12628" y="2397279"/>
                    <a:pt x="0" y="2384650"/>
                    <a:pt x="0" y="2369072"/>
                  </a:cubicBezTo>
                  <a:lnTo>
                    <a:pt x="0" y="28206"/>
                  </a:lnTo>
                  <a:cubicBezTo>
                    <a:pt x="0" y="12628"/>
                    <a:pt x="12628" y="0"/>
                    <a:pt x="28206"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659661" cy="2454429"/>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725956" y="1422128"/>
            <a:ext cx="10291649" cy="8569325"/>
          </a:xfrm>
          <a:prstGeom prst="rect">
            <a:avLst/>
          </a:prstGeom>
        </p:spPr>
        <p:txBody>
          <a:bodyPr anchor="t" rtlCol="false" tIns="0" lIns="0" bIns="0" rIns="0">
            <a:spAutoFit/>
          </a:bodyPr>
          <a:lstStyle/>
          <a:p>
            <a:pPr algn="just">
              <a:lnSpc>
                <a:spcPts val="3400"/>
              </a:lnSpc>
            </a:pPr>
          </a:p>
          <a:p>
            <a:pPr algn="just">
              <a:lnSpc>
                <a:spcPts val="3400"/>
              </a:lnSpc>
            </a:pPr>
            <a:r>
              <a:rPr lang="en-US" sz="2000" b="true">
                <a:solidFill>
                  <a:srgbClr val="FFFFFF"/>
                </a:solidFill>
                <a:latin typeface="Poppins Bold"/>
                <a:ea typeface="Poppins Bold"/>
                <a:cs typeface="Poppins Bold"/>
                <a:sym typeface="Poppins Bold"/>
              </a:rPr>
              <a:t>We fine-tuned BERT (Bidirectional Encoder Representations from Transformers), a state-of-the-art model that processes text bidirectionally to learn deep contextual relationships between words. This allowed for a much richer understanding of linguistic nuances. </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Training: The model was trained for 2 epochs using a custom optimizer and SparseCategoricalCrossentropy loss.</a:t>
            </a:r>
          </a:p>
          <a:p>
            <a:pPr algn="just" marL="431801" indent="-215900" lvl="1">
              <a:lnSpc>
                <a:spcPts val="3400"/>
              </a:lnSpc>
              <a:buFont typeface="Arial"/>
              <a:buChar char="•"/>
            </a:pPr>
          </a:p>
          <a:p>
            <a:pPr algn="just">
              <a:lnSpc>
                <a:spcPts val="3400"/>
              </a:lnSpc>
            </a:pPr>
            <a:r>
              <a:rPr lang="en-US" sz="2000" b="true">
                <a:solidFill>
                  <a:srgbClr val="FFFFFF"/>
                </a:solidFill>
                <a:latin typeface="Poppins Bold"/>
                <a:ea typeface="Poppins Bold"/>
                <a:cs typeface="Poppins Bold"/>
                <a:sym typeface="Poppins Bold"/>
              </a:rPr>
              <a:t>Results on Validation Set:</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Accuracy: 0.9991</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Precision: 0.9989</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Recall: 0.9994</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F1 Score: 0.9991</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Confusion Matrix: [[3209 4], [2 3520]] (4 False Positives, 2 False Negatives)</a:t>
            </a:r>
          </a:p>
          <a:p>
            <a:pPr algn="just">
              <a:lnSpc>
                <a:spcPts val="3400"/>
              </a:lnSpc>
            </a:pPr>
            <a:r>
              <a:rPr lang="en-US" sz="2000" b="true">
                <a:solidFill>
                  <a:srgbClr val="FFFFFF"/>
                </a:solidFill>
                <a:latin typeface="Poppins Bold"/>
                <a:ea typeface="Poppins Bold"/>
                <a:cs typeface="Poppins Bold"/>
                <a:sym typeface="Poppins Bold"/>
              </a:rPr>
              <a:t>Interpretation:</a:t>
            </a:r>
          </a:p>
          <a:p>
            <a:pPr algn="just">
              <a:lnSpc>
                <a:spcPts val="3400"/>
              </a:lnSpc>
            </a:pPr>
            <a:r>
              <a:rPr lang="en-US" sz="2000" b="true">
                <a:solidFill>
                  <a:srgbClr val="FFFFFF"/>
                </a:solidFill>
                <a:latin typeface="Poppins Bold"/>
                <a:ea typeface="Poppins Bold"/>
                <a:cs typeface="Poppins Bold"/>
                <a:sym typeface="Poppins Bold"/>
              </a:rPr>
              <a:t>BERT achieved outstanding performance, surpassing the LSTM model with the highest accuracy and lowest number of false predictions. This highlights the superior capability of pre-trained transformer models in grasping complex language patterns for highly accurate classification.</a:t>
            </a:r>
          </a:p>
          <a:p>
            <a:pPr algn="just">
              <a:lnSpc>
                <a:spcPts val="3400"/>
              </a:lnSpc>
            </a:pPr>
          </a:p>
        </p:txBody>
      </p:sp>
      <p:grpSp>
        <p:nvGrpSpPr>
          <p:cNvPr name="Group 9" id="9"/>
          <p:cNvGrpSpPr/>
          <p:nvPr/>
        </p:nvGrpSpPr>
        <p:grpSpPr>
          <a:xfrm rot="0">
            <a:off x="14934954" y="1372727"/>
            <a:ext cx="321025" cy="32102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12" id="12"/>
          <p:cNvSpPr txBox="true"/>
          <p:nvPr/>
        </p:nvSpPr>
        <p:spPr>
          <a:xfrm rot="0">
            <a:off x="373931" y="517277"/>
            <a:ext cx="16581030" cy="2618617"/>
          </a:xfrm>
          <a:prstGeom prst="rect">
            <a:avLst/>
          </a:prstGeom>
        </p:spPr>
        <p:txBody>
          <a:bodyPr anchor="t" rtlCol="false" tIns="0" lIns="0" bIns="0" rIns="0">
            <a:spAutoFit/>
          </a:bodyPr>
          <a:lstStyle/>
          <a:p>
            <a:pPr algn="l">
              <a:lnSpc>
                <a:spcPts val="6741"/>
              </a:lnSpc>
            </a:pPr>
            <a:r>
              <a:rPr lang="en-US" sz="6300" b="true">
                <a:solidFill>
                  <a:srgbClr val="FFFFFF"/>
                </a:solidFill>
                <a:latin typeface="Poppins Bold"/>
                <a:ea typeface="Poppins Bold"/>
                <a:cs typeface="Poppins Bold"/>
                <a:sym typeface="Poppins Bold"/>
              </a:rPr>
              <a:t>Model 3: BERT (Transformer-based)</a:t>
            </a:r>
          </a:p>
          <a:p>
            <a:pPr algn="l">
              <a:lnSpc>
                <a:spcPts val="6741"/>
              </a:lnSpc>
            </a:pPr>
          </a:p>
          <a:p>
            <a:pPr algn="l">
              <a:lnSpc>
                <a:spcPts val="6741"/>
              </a:lnSpc>
            </a:pPr>
          </a:p>
        </p:txBody>
      </p:sp>
      <p:sp>
        <p:nvSpPr>
          <p:cNvPr name="Freeform 13" id="13"/>
          <p:cNvSpPr/>
          <p:nvPr/>
        </p:nvSpPr>
        <p:spPr>
          <a:xfrm flipH="false" flipV="false" rot="3106505">
            <a:off x="13668083" y="-68457"/>
            <a:ext cx="1849627" cy="1665009"/>
          </a:xfrm>
          <a:custGeom>
            <a:avLst/>
            <a:gdLst/>
            <a:ahLst/>
            <a:cxnLst/>
            <a:rect r="r" b="b" t="t" l="l"/>
            <a:pathLst>
              <a:path h="1665009" w="1849627">
                <a:moveTo>
                  <a:pt x="0" y="0"/>
                </a:moveTo>
                <a:lnTo>
                  <a:pt x="1849627" y="0"/>
                </a:lnTo>
                <a:lnTo>
                  <a:pt x="1849627" y="1665009"/>
                </a:lnTo>
                <a:lnTo>
                  <a:pt x="0" y="1665009"/>
                </a:lnTo>
                <a:lnTo>
                  <a:pt x="0" y="0"/>
                </a:lnTo>
                <a:close/>
              </a:path>
            </a:pathLst>
          </a:custGeom>
          <a:blipFill>
            <a:blip r:embed="rId2"/>
            <a:stretch>
              <a:fillRect l="0" t="0" r="0" b="0"/>
            </a:stretch>
          </a:blipFill>
        </p:spPr>
      </p:sp>
      <p:sp>
        <p:nvSpPr>
          <p:cNvPr name="Freeform 14" id="14"/>
          <p:cNvSpPr/>
          <p:nvPr/>
        </p:nvSpPr>
        <p:spPr>
          <a:xfrm flipH="false" flipV="false" rot="5400000">
            <a:off x="11099300" y="3521907"/>
            <a:ext cx="7988155" cy="4331844"/>
          </a:xfrm>
          <a:custGeom>
            <a:avLst/>
            <a:gdLst/>
            <a:ahLst/>
            <a:cxnLst/>
            <a:rect r="r" b="b" t="t" l="l"/>
            <a:pathLst>
              <a:path h="4331844" w="7988155">
                <a:moveTo>
                  <a:pt x="0" y="0"/>
                </a:moveTo>
                <a:lnTo>
                  <a:pt x="7988156" y="0"/>
                </a:lnTo>
                <a:lnTo>
                  <a:pt x="7988156" y="4331844"/>
                </a:lnTo>
                <a:lnTo>
                  <a:pt x="0" y="4331844"/>
                </a:lnTo>
                <a:lnTo>
                  <a:pt x="0" y="0"/>
                </a:lnTo>
                <a:close/>
              </a:path>
            </a:pathLst>
          </a:custGeom>
          <a:blipFill>
            <a:blip r:embed="rId3"/>
            <a:stretch>
              <a:fillRect l="-22256" t="0" r="0" b="-26773"/>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725956" y="1812298"/>
            <a:ext cx="11366990" cy="7863623"/>
            <a:chOff x="0" y="0"/>
            <a:chExt cx="3659661" cy="2531734"/>
          </a:xfrm>
        </p:grpSpPr>
        <p:sp>
          <p:nvSpPr>
            <p:cNvPr name="Freeform 6" id="6"/>
            <p:cNvSpPr/>
            <p:nvPr/>
          </p:nvSpPr>
          <p:spPr>
            <a:xfrm flipH="false" flipV="false" rot="0">
              <a:off x="0" y="0"/>
              <a:ext cx="3659661" cy="2531734"/>
            </a:xfrm>
            <a:custGeom>
              <a:avLst/>
              <a:gdLst/>
              <a:ahLst/>
              <a:cxnLst/>
              <a:rect r="r" b="b" t="t" l="l"/>
              <a:pathLst>
                <a:path h="2531734" w="3659661">
                  <a:moveTo>
                    <a:pt x="28206" y="0"/>
                  </a:moveTo>
                  <a:lnTo>
                    <a:pt x="3631455" y="0"/>
                  </a:lnTo>
                  <a:cubicBezTo>
                    <a:pt x="3647033" y="0"/>
                    <a:pt x="3659661" y="12628"/>
                    <a:pt x="3659661" y="28206"/>
                  </a:cubicBezTo>
                  <a:lnTo>
                    <a:pt x="3659661" y="2503528"/>
                  </a:lnTo>
                  <a:cubicBezTo>
                    <a:pt x="3659661" y="2519106"/>
                    <a:pt x="3647033" y="2531734"/>
                    <a:pt x="3631455" y="2531734"/>
                  </a:cubicBezTo>
                  <a:lnTo>
                    <a:pt x="28206" y="2531734"/>
                  </a:lnTo>
                  <a:cubicBezTo>
                    <a:pt x="12628" y="2531734"/>
                    <a:pt x="0" y="2519106"/>
                    <a:pt x="0" y="2503528"/>
                  </a:cubicBezTo>
                  <a:lnTo>
                    <a:pt x="0" y="28206"/>
                  </a:lnTo>
                  <a:cubicBezTo>
                    <a:pt x="0" y="12628"/>
                    <a:pt x="12628" y="0"/>
                    <a:pt x="28206"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659661" cy="2588884"/>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725956" y="1764665"/>
            <a:ext cx="11090606" cy="8522335"/>
          </a:xfrm>
          <a:prstGeom prst="rect">
            <a:avLst/>
          </a:prstGeom>
        </p:spPr>
        <p:txBody>
          <a:bodyPr anchor="t" rtlCol="false" tIns="0" lIns="0" bIns="0" rIns="0">
            <a:spAutoFit/>
          </a:bodyPr>
          <a:lstStyle/>
          <a:p>
            <a:pPr algn="l">
              <a:lnSpc>
                <a:spcPts val="1679"/>
              </a:lnSpc>
            </a:pPr>
          </a:p>
          <a:p>
            <a:pPr algn="l">
              <a:lnSpc>
                <a:spcPts val="1679"/>
              </a:lnSpc>
            </a:pPr>
          </a:p>
          <a:p>
            <a:pPr algn="just">
              <a:lnSpc>
                <a:spcPts val="3400"/>
              </a:lnSpc>
            </a:pPr>
            <a:r>
              <a:rPr lang="en-US" sz="2000" b="true">
                <a:solidFill>
                  <a:srgbClr val="FFFFFF"/>
                </a:solidFill>
                <a:latin typeface="Poppins Bold"/>
                <a:ea typeface="Poppins Bold"/>
                <a:cs typeface="Poppins Bold"/>
                <a:sym typeface="Poppins Bold"/>
              </a:rPr>
              <a:t>RoBERTa (Robustly Optimized BERT Pretraining Approach), an optimized version of BERT, was also fine-tuned. RoBERTa improves upon BERT's pre-training by using modified hyperparameters and larger training batches, often leading to even better performance.</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Training: The model was trained for 2 epochs with a custom optimizer and SparseCategoricalCrossentropy loss.</a:t>
            </a:r>
          </a:p>
          <a:p>
            <a:pPr algn="just" marL="431801" indent="-215900" lvl="1">
              <a:lnSpc>
                <a:spcPts val="3400"/>
              </a:lnSpc>
              <a:buFont typeface="Arial"/>
              <a:buChar char="•"/>
            </a:pPr>
          </a:p>
          <a:p>
            <a:pPr algn="just">
              <a:lnSpc>
                <a:spcPts val="3400"/>
              </a:lnSpc>
            </a:pPr>
            <a:r>
              <a:rPr lang="en-US" sz="2000" b="true">
                <a:solidFill>
                  <a:srgbClr val="FFFFFF"/>
                </a:solidFill>
                <a:latin typeface="Poppins Bold"/>
                <a:ea typeface="Poppins Bold"/>
                <a:cs typeface="Poppins Bold"/>
                <a:sym typeface="Poppins Bold"/>
              </a:rPr>
              <a:t>Results on Validation Set:</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Accuracy: 0.9985</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Precision: 0.9983</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Recall: 0.9989</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F1 Score: 0.9986</a:t>
            </a:r>
          </a:p>
          <a:p>
            <a:pPr algn="just" marL="431801" indent="-215900" lvl="1">
              <a:lnSpc>
                <a:spcPts val="3400"/>
              </a:lnSpc>
              <a:buFont typeface="Arial"/>
              <a:buChar char="•"/>
            </a:pPr>
            <a:r>
              <a:rPr lang="en-US" b="true" sz="2000">
                <a:solidFill>
                  <a:srgbClr val="FFFFFF"/>
                </a:solidFill>
                <a:latin typeface="Poppins Bold"/>
                <a:ea typeface="Poppins Bold"/>
                <a:cs typeface="Poppins Bold"/>
                <a:sym typeface="Poppins Bold"/>
              </a:rPr>
              <a:t>Confusion Matrix: [[3207 6], [4 3518]] (6 False Positives, 4 False Negatives)</a:t>
            </a:r>
          </a:p>
          <a:p>
            <a:pPr algn="just">
              <a:lnSpc>
                <a:spcPts val="3400"/>
              </a:lnSpc>
            </a:pPr>
            <a:r>
              <a:rPr lang="en-US" sz="2000" b="true">
                <a:solidFill>
                  <a:srgbClr val="FFFFFF"/>
                </a:solidFill>
                <a:latin typeface="Poppins Bold"/>
                <a:ea typeface="Poppins Bold"/>
                <a:cs typeface="Poppins Bold"/>
                <a:sym typeface="Poppins Bold"/>
              </a:rPr>
              <a:t>Interpretation:</a:t>
            </a:r>
          </a:p>
          <a:p>
            <a:pPr algn="just">
              <a:lnSpc>
                <a:spcPts val="3400"/>
              </a:lnSpc>
            </a:pPr>
            <a:r>
              <a:rPr lang="en-US" sz="2000" b="true">
                <a:solidFill>
                  <a:srgbClr val="FFFFFF"/>
                </a:solidFill>
                <a:latin typeface="Poppins Bold"/>
                <a:ea typeface="Poppins Bold"/>
                <a:cs typeface="Poppins Bold"/>
                <a:sym typeface="Poppins Bold"/>
              </a:rPr>
              <a:t>RoBERTa also performed exceptionally well, very close to BERT's performance. While slightly trailing BERT in this specific validation scenario, it reinforced the effectiveness of advanced transformer architectures for fake news detection.</a:t>
            </a:r>
          </a:p>
          <a:p>
            <a:pPr algn="just">
              <a:lnSpc>
                <a:spcPts val="3400"/>
              </a:lnSpc>
            </a:pPr>
          </a:p>
          <a:p>
            <a:pPr algn="just">
              <a:lnSpc>
                <a:spcPts val="3400"/>
              </a:lnSpc>
            </a:pPr>
          </a:p>
        </p:txBody>
      </p:sp>
      <p:grpSp>
        <p:nvGrpSpPr>
          <p:cNvPr name="Group 9" id="9"/>
          <p:cNvGrpSpPr/>
          <p:nvPr/>
        </p:nvGrpSpPr>
        <p:grpSpPr>
          <a:xfrm rot="0">
            <a:off x="10268065" y="5635502"/>
            <a:ext cx="1296074" cy="1400636"/>
            <a:chOff x="0" y="0"/>
            <a:chExt cx="812800" cy="878373"/>
          </a:xfrm>
        </p:grpSpPr>
        <p:sp>
          <p:nvSpPr>
            <p:cNvPr name="Freeform 10" id="10"/>
            <p:cNvSpPr/>
            <p:nvPr/>
          </p:nvSpPr>
          <p:spPr>
            <a:xfrm flipH="false" flipV="false" rot="0">
              <a:off x="0" y="0"/>
              <a:ext cx="812800" cy="878373"/>
            </a:xfrm>
            <a:custGeom>
              <a:avLst/>
              <a:gdLst/>
              <a:ahLst/>
              <a:cxnLst/>
              <a:rect r="r" b="b" t="t" l="l"/>
              <a:pathLst>
                <a:path h="878373" w="812800">
                  <a:moveTo>
                    <a:pt x="406400" y="0"/>
                  </a:moveTo>
                  <a:cubicBezTo>
                    <a:pt x="181951" y="0"/>
                    <a:pt x="0" y="196631"/>
                    <a:pt x="0" y="439187"/>
                  </a:cubicBezTo>
                  <a:cubicBezTo>
                    <a:pt x="0" y="681743"/>
                    <a:pt x="181951" y="878373"/>
                    <a:pt x="406400" y="878373"/>
                  </a:cubicBezTo>
                  <a:cubicBezTo>
                    <a:pt x="630849" y="878373"/>
                    <a:pt x="812800" y="681743"/>
                    <a:pt x="812800" y="439187"/>
                  </a:cubicBezTo>
                  <a:cubicBezTo>
                    <a:pt x="812800" y="19663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11" id="11"/>
            <p:cNvSpPr txBox="true"/>
            <p:nvPr/>
          </p:nvSpPr>
          <p:spPr>
            <a:xfrm>
              <a:off x="76200" y="25198"/>
              <a:ext cx="660400" cy="770828"/>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4934954" y="1372727"/>
            <a:ext cx="321025" cy="32102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TextBox 15" id="15"/>
          <p:cNvSpPr txBox="true"/>
          <p:nvPr/>
        </p:nvSpPr>
        <p:spPr>
          <a:xfrm rot="0">
            <a:off x="256102" y="792623"/>
            <a:ext cx="18405166" cy="923167"/>
          </a:xfrm>
          <a:prstGeom prst="rect">
            <a:avLst/>
          </a:prstGeom>
        </p:spPr>
        <p:txBody>
          <a:bodyPr anchor="t" rtlCol="false" tIns="0" lIns="0" bIns="0" rIns="0">
            <a:spAutoFit/>
          </a:bodyPr>
          <a:lstStyle/>
          <a:p>
            <a:pPr algn="l">
              <a:lnSpc>
                <a:spcPts val="6741"/>
              </a:lnSpc>
            </a:pPr>
            <a:r>
              <a:rPr lang="en-US" sz="6300" b="true">
                <a:solidFill>
                  <a:srgbClr val="FFFFFF"/>
                </a:solidFill>
                <a:latin typeface="Poppins Bold"/>
                <a:ea typeface="Poppins Bold"/>
                <a:cs typeface="Poppins Bold"/>
                <a:sym typeface="Poppins Bold"/>
              </a:rPr>
              <a:t>Model 4: RoBERTa (Optimized Transformer)</a:t>
            </a:r>
          </a:p>
        </p:txBody>
      </p:sp>
      <p:sp>
        <p:nvSpPr>
          <p:cNvPr name="Freeform 16" id="16"/>
          <p:cNvSpPr/>
          <p:nvPr/>
        </p:nvSpPr>
        <p:spPr>
          <a:xfrm flipH="false" flipV="false" rot="3106505">
            <a:off x="12783907" y="3561362"/>
            <a:ext cx="1849627" cy="1665009"/>
          </a:xfrm>
          <a:custGeom>
            <a:avLst/>
            <a:gdLst/>
            <a:ahLst/>
            <a:cxnLst/>
            <a:rect r="r" b="b" t="t" l="l"/>
            <a:pathLst>
              <a:path h="1665009" w="1849627">
                <a:moveTo>
                  <a:pt x="0" y="0"/>
                </a:moveTo>
                <a:lnTo>
                  <a:pt x="1849626" y="0"/>
                </a:lnTo>
                <a:lnTo>
                  <a:pt x="1849626" y="1665010"/>
                </a:lnTo>
                <a:lnTo>
                  <a:pt x="0" y="1665010"/>
                </a:lnTo>
                <a:lnTo>
                  <a:pt x="0" y="0"/>
                </a:lnTo>
                <a:close/>
              </a:path>
            </a:pathLst>
          </a:custGeom>
          <a:blipFill>
            <a:blip r:embed="rId2"/>
            <a:stretch>
              <a:fillRect l="0" t="0" r="0" b="0"/>
            </a:stretch>
          </a:blipFill>
        </p:spPr>
      </p:sp>
      <p:sp>
        <p:nvSpPr>
          <p:cNvPr name="Freeform 17" id="17"/>
          <p:cNvSpPr/>
          <p:nvPr/>
        </p:nvSpPr>
        <p:spPr>
          <a:xfrm flipH="false" flipV="false" rot="5400000">
            <a:off x="11101389" y="3578187"/>
            <a:ext cx="7988155" cy="4331844"/>
          </a:xfrm>
          <a:custGeom>
            <a:avLst/>
            <a:gdLst/>
            <a:ahLst/>
            <a:cxnLst/>
            <a:rect r="r" b="b" t="t" l="l"/>
            <a:pathLst>
              <a:path h="4331844" w="7988155">
                <a:moveTo>
                  <a:pt x="0" y="0"/>
                </a:moveTo>
                <a:lnTo>
                  <a:pt x="7988155" y="0"/>
                </a:lnTo>
                <a:lnTo>
                  <a:pt x="7988155" y="4331844"/>
                </a:lnTo>
                <a:lnTo>
                  <a:pt x="0" y="4331844"/>
                </a:lnTo>
                <a:lnTo>
                  <a:pt x="0" y="0"/>
                </a:lnTo>
                <a:close/>
              </a:path>
            </a:pathLst>
          </a:custGeom>
          <a:blipFill>
            <a:blip r:embed="rId3"/>
            <a:stretch>
              <a:fillRect l="-22256" t="0" r="0" b="-26773"/>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6650621" y="764048"/>
            <a:ext cx="608679" cy="608679"/>
            <a:chOff x="0" y="0"/>
            <a:chExt cx="285198" cy="285198"/>
          </a:xfrm>
        </p:grpSpPr>
        <p:sp>
          <p:nvSpPr>
            <p:cNvPr name="Freeform 3" id="3"/>
            <p:cNvSpPr/>
            <p:nvPr/>
          </p:nvSpPr>
          <p:spPr>
            <a:xfrm flipH="false" flipV="false" rot="0">
              <a:off x="0" y="0"/>
              <a:ext cx="285198" cy="285198"/>
            </a:xfrm>
            <a:custGeom>
              <a:avLst/>
              <a:gdLst/>
              <a:ahLst/>
              <a:cxnLst/>
              <a:rect r="r" b="b" t="t" l="l"/>
              <a:pathLst>
                <a:path h="285198" w="285198">
                  <a:moveTo>
                    <a:pt x="142599" y="0"/>
                  </a:moveTo>
                  <a:lnTo>
                    <a:pt x="142599" y="0"/>
                  </a:lnTo>
                  <a:cubicBezTo>
                    <a:pt x="180419" y="0"/>
                    <a:pt x="216689" y="15024"/>
                    <a:pt x="243432" y="41766"/>
                  </a:cubicBezTo>
                  <a:cubicBezTo>
                    <a:pt x="270174" y="68509"/>
                    <a:pt x="285198" y="104779"/>
                    <a:pt x="285198" y="142599"/>
                  </a:cubicBezTo>
                  <a:lnTo>
                    <a:pt x="285198" y="142599"/>
                  </a:lnTo>
                  <a:cubicBezTo>
                    <a:pt x="285198" y="221354"/>
                    <a:pt x="221354" y="285198"/>
                    <a:pt x="142599" y="285198"/>
                  </a:cubicBezTo>
                  <a:lnTo>
                    <a:pt x="142599" y="285198"/>
                  </a:lnTo>
                  <a:cubicBezTo>
                    <a:pt x="63844" y="285198"/>
                    <a:pt x="0" y="221354"/>
                    <a:pt x="0" y="142599"/>
                  </a:cubicBezTo>
                  <a:lnTo>
                    <a:pt x="0" y="142599"/>
                  </a:lnTo>
                  <a:cubicBezTo>
                    <a:pt x="0" y="63844"/>
                    <a:pt x="63844" y="0"/>
                    <a:pt x="142599" y="0"/>
                  </a:cubicBezTo>
                  <a:close/>
                </a:path>
              </a:pathLst>
            </a:custGeom>
            <a:gradFill rotWithShape="true">
              <a:gsLst>
                <a:gs pos="0">
                  <a:srgbClr val="240E3D">
                    <a:alpha val="100000"/>
                  </a:srgbClr>
                </a:gs>
                <a:gs pos="100000">
                  <a:srgbClr val="690088">
                    <a:alpha val="100000"/>
                  </a:srgbClr>
                </a:gs>
              </a:gsLst>
              <a:lin ang="0"/>
            </a:gradFill>
            <a:ln cap="sq">
              <a:noFill/>
              <a:prstDash val="solid"/>
              <a:miter/>
            </a:ln>
          </p:spPr>
        </p:sp>
        <p:sp>
          <p:nvSpPr>
            <p:cNvPr name="TextBox 4" id="4"/>
            <p:cNvSpPr txBox="true"/>
            <p:nvPr/>
          </p:nvSpPr>
          <p:spPr>
            <a:xfrm>
              <a:off x="0" y="-57150"/>
              <a:ext cx="285198" cy="342348"/>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8102976" y="764048"/>
            <a:ext cx="9401617" cy="8995890"/>
            <a:chOff x="0" y="0"/>
            <a:chExt cx="3026899" cy="2896273"/>
          </a:xfrm>
        </p:grpSpPr>
        <p:sp>
          <p:nvSpPr>
            <p:cNvPr name="Freeform 6" id="6"/>
            <p:cNvSpPr/>
            <p:nvPr/>
          </p:nvSpPr>
          <p:spPr>
            <a:xfrm flipH="false" flipV="false" rot="0">
              <a:off x="0" y="0"/>
              <a:ext cx="3026899" cy="2896273"/>
            </a:xfrm>
            <a:custGeom>
              <a:avLst/>
              <a:gdLst/>
              <a:ahLst/>
              <a:cxnLst/>
              <a:rect r="r" b="b" t="t" l="l"/>
              <a:pathLst>
                <a:path h="2896273" w="3026899">
                  <a:moveTo>
                    <a:pt x="34103" y="0"/>
                  </a:moveTo>
                  <a:lnTo>
                    <a:pt x="2992796" y="0"/>
                  </a:lnTo>
                  <a:cubicBezTo>
                    <a:pt x="3001841" y="0"/>
                    <a:pt x="3010515" y="3593"/>
                    <a:pt x="3016911" y="9988"/>
                  </a:cubicBezTo>
                  <a:cubicBezTo>
                    <a:pt x="3023306" y="16384"/>
                    <a:pt x="3026899" y="25058"/>
                    <a:pt x="3026899" y="34103"/>
                  </a:cubicBezTo>
                  <a:lnTo>
                    <a:pt x="3026899" y="2862170"/>
                  </a:lnTo>
                  <a:cubicBezTo>
                    <a:pt x="3026899" y="2871215"/>
                    <a:pt x="3023306" y="2879889"/>
                    <a:pt x="3016911" y="2886285"/>
                  </a:cubicBezTo>
                  <a:cubicBezTo>
                    <a:pt x="3010515" y="2892680"/>
                    <a:pt x="3001841" y="2896273"/>
                    <a:pt x="2992796" y="2896273"/>
                  </a:cubicBezTo>
                  <a:lnTo>
                    <a:pt x="34103" y="2896273"/>
                  </a:lnTo>
                  <a:cubicBezTo>
                    <a:pt x="25058" y="2896273"/>
                    <a:pt x="16384" y="2892680"/>
                    <a:pt x="9988" y="2886285"/>
                  </a:cubicBezTo>
                  <a:cubicBezTo>
                    <a:pt x="3593" y="2879889"/>
                    <a:pt x="0" y="2871215"/>
                    <a:pt x="0" y="2862170"/>
                  </a:cubicBezTo>
                  <a:lnTo>
                    <a:pt x="0" y="34103"/>
                  </a:lnTo>
                  <a:cubicBezTo>
                    <a:pt x="0" y="25058"/>
                    <a:pt x="3593" y="16384"/>
                    <a:pt x="9988" y="9988"/>
                  </a:cubicBezTo>
                  <a:cubicBezTo>
                    <a:pt x="16384" y="3593"/>
                    <a:pt x="25058" y="0"/>
                    <a:pt x="34103" y="0"/>
                  </a:cubicBezTo>
                  <a:close/>
                </a:path>
              </a:pathLst>
            </a:custGeom>
            <a:gradFill rotWithShape="true">
              <a:gsLst>
                <a:gs pos="0">
                  <a:srgbClr val="240E3D">
                    <a:alpha val="100000"/>
                  </a:srgbClr>
                </a:gs>
                <a:gs pos="100000">
                  <a:srgbClr val="690088">
                    <a:alpha val="100000"/>
                  </a:srgbClr>
                </a:gs>
              </a:gsLst>
              <a:lin ang="0"/>
            </a:gradFill>
          </p:spPr>
        </p:sp>
        <p:sp>
          <p:nvSpPr>
            <p:cNvPr name="TextBox 7" id="7"/>
            <p:cNvSpPr txBox="true"/>
            <p:nvPr/>
          </p:nvSpPr>
          <p:spPr>
            <a:xfrm>
              <a:off x="0" y="-57150"/>
              <a:ext cx="3026899" cy="2953423"/>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28862" y="0"/>
            <a:ext cx="8419182" cy="3384988"/>
          </a:xfrm>
          <a:custGeom>
            <a:avLst/>
            <a:gdLst/>
            <a:ahLst/>
            <a:cxnLst/>
            <a:rect r="r" b="b" t="t" l="l"/>
            <a:pathLst>
              <a:path h="3384988" w="8419182">
                <a:moveTo>
                  <a:pt x="0" y="0"/>
                </a:moveTo>
                <a:lnTo>
                  <a:pt x="8419182" y="0"/>
                </a:lnTo>
                <a:lnTo>
                  <a:pt x="8419182" y="3384988"/>
                </a:lnTo>
                <a:lnTo>
                  <a:pt x="0" y="3384988"/>
                </a:lnTo>
                <a:lnTo>
                  <a:pt x="0" y="0"/>
                </a:lnTo>
                <a:close/>
              </a:path>
            </a:pathLst>
          </a:custGeom>
          <a:blipFill>
            <a:blip r:embed="rId2"/>
            <a:stretch>
              <a:fillRect l="0" t="-36218" r="-21404" b="-58795"/>
            </a:stretch>
          </a:blipFill>
        </p:spPr>
      </p:sp>
      <p:sp>
        <p:nvSpPr>
          <p:cNvPr name="Freeform 9" id="9"/>
          <p:cNvSpPr/>
          <p:nvPr/>
        </p:nvSpPr>
        <p:spPr>
          <a:xfrm flipH="false" flipV="false" rot="0">
            <a:off x="510194" y="3210489"/>
            <a:ext cx="7456518" cy="7297906"/>
          </a:xfrm>
          <a:custGeom>
            <a:avLst/>
            <a:gdLst/>
            <a:ahLst/>
            <a:cxnLst/>
            <a:rect r="r" b="b" t="t" l="l"/>
            <a:pathLst>
              <a:path h="7297906" w="7456518">
                <a:moveTo>
                  <a:pt x="0" y="0"/>
                </a:moveTo>
                <a:lnTo>
                  <a:pt x="7456518" y="0"/>
                </a:lnTo>
                <a:lnTo>
                  <a:pt x="7456518" y="7297906"/>
                </a:lnTo>
                <a:lnTo>
                  <a:pt x="0" y="7297906"/>
                </a:lnTo>
                <a:lnTo>
                  <a:pt x="0" y="0"/>
                </a:lnTo>
                <a:close/>
              </a:path>
            </a:pathLst>
          </a:custGeom>
          <a:blipFill>
            <a:blip r:embed="rId3"/>
            <a:stretch>
              <a:fillRect l="-24902" t="0" r="-24902" b="0"/>
            </a:stretch>
          </a:blipFill>
        </p:spPr>
      </p:sp>
      <p:sp>
        <p:nvSpPr>
          <p:cNvPr name="Freeform 10" id="10"/>
          <p:cNvSpPr/>
          <p:nvPr/>
        </p:nvSpPr>
        <p:spPr>
          <a:xfrm flipH="false" flipV="false" rot="0">
            <a:off x="192318" y="2599218"/>
            <a:ext cx="8255726" cy="5913164"/>
          </a:xfrm>
          <a:custGeom>
            <a:avLst/>
            <a:gdLst/>
            <a:ahLst/>
            <a:cxnLst/>
            <a:rect r="r" b="b" t="t" l="l"/>
            <a:pathLst>
              <a:path h="5913164" w="8255726">
                <a:moveTo>
                  <a:pt x="0" y="0"/>
                </a:moveTo>
                <a:lnTo>
                  <a:pt x="8255726" y="0"/>
                </a:lnTo>
                <a:lnTo>
                  <a:pt x="8255726" y="5913164"/>
                </a:lnTo>
                <a:lnTo>
                  <a:pt x="0" y="5913164"/>
                </a:lnTo>
                <a:lnTo>
                  <a:pt x="0" y="0"/>
                </a:lnTo>
                <a:close/>
              </a:path>
            </a:pathLst>
          </a:custGeom>
          <a:blipFill>
            <a:blip r:embed="rId4"/>
            <a:stretch>
              <a:fillRect l="0" t="0" r="0" b="0"/>
            </a:stretch>
          </a:blipFill>
        </p:spPr>
      </p:sp>
      <p:sp>
        <p:nvSpPr>
          <p:cNvPr name="TextBox 11" id="11"/>
          <p:cNvSpPr txBox="true"/>
          <p:nvPr/>
        </p:nvSpPr>
        <p:spPr>
          <a:xfrm rot="0">
            <a:off x="1049415" y="783098"/>
            <a:ext cx="6378075" cy="1092077"/>
          </a:xfrm>
          <a:prstGeom prst="rect">
            <a:avLst/>
          </a:prstGeom>
        </p:spPr>
        <p:txBody>
          <a:bodyPr anchor="t" rtlCol="false" tIns="0" lIns="0" bIns="0" rIns="0">
            <a:spAutoFit/>
          </a:bodyPr>
          <a:lstStyle/>
          <a:p>
            <a:pPr algn="l">
              <a:lnSpc>
                <a:spcPts val="7811"/>
              </a:lnSpc>
            </a:pPr>
            <a:r>
              <a:rPr lang="en-US" sz="7300" b="true">
                <a:solidFill>
                  <a:srgbClr val="FFFFFF"/>
                </a:solidFill>
                <a:latin typeface="Poppins Bold"/>
                <a:ea typeface="Poppins Bold"/>
                <a:cs typeface="Poppins Bold"/>
                <a:sym typeface="Poppins Bold"/>
              </a:rPr>
              <a:t>Interface</a:t>
            </a:r>
          </a:p>
        </p:txBody>
      </p:sp>
      <p:sp>
        <p:nvSpPr>
          <p:cNvPr name="TextBox 12" id="12"/>
          <p:cNvSpPr txBox="true"/>
          <p:nvPr/>
        </p:nvSpPr>
        <p:spPr>
          <a:xfrm rot="0">
            <a:off x="8632379" y="1429905"/>
            <a:ext cx="8018242" cy="8194640"/>
          </a:xfrm>
          <a:prstGeom prst="rect">
            <a:avLst/>
          </a:prstGeom>
        </p:spPr>
        <p:txBody>
          <a:bodyPr anchor="t" rtlCol="false" tIns="0" lIns="0" bIns="0" rIns="0">
            <a:spAutoFit/>
          </a:bodyPr>
          <a:lstStyle/>
          <a:p>
            <a:pPr algn="l">
              <a:lnSpc>
                <a:spcPts val="2938"/>
              </a:lnSpc>
            </a:pPr>
            <a:r>
              <a:rPr lang="en-US" sz="2099" b="true">
                <a:solidFill>
                  <a:srgbClr val="FFFFFF"/>
                </a:solidFill>
                <a:latin typeface="Arimo Bold"/>
                <a:ea typeface="Arimo Bold"/>
                <a:cs typeface="Arimo Bold"/>
                <a:sym typeface="Arimo Bold"/>
              </a:rPr>
              <a:t>What it Is:</a:t>
            </a:r>
          </a:p>
          <a:p>
            <a:pPr algn="l">
              <a:lnSpc>
                <a:spcPts val="2938"/>
              </a:lnSpc>
            </a:pPr>
            <a:r>
              <a:rPr lang="en-US" sz="2099" b="true">
                <a:solidFill>
                  <a:srgbClr val="FFFFFF"/>
                </a:solidFill>
                <a:latin typeface="Arimo Bold"/>
                <a:ea typeface="Arimo Bold"/>
                <a:cs typeface="Arimo Bold"/>
                <a:sym typeface="Arimo Bold"/>
              </a:rPr>
              <a:t>We developed a user-friendly interactive interface using the Gradio library. This tool allows anyone to test our trained models in real-time, providing an accessible platform for immediate fake news detection.</a:t>
            </a:r>
          </a:p>
          <a:p>
            <a:pPr algn="l">
              <a:lnSpc>
                <a:spcPts val="2938"/>
              </a:lnSpc>
            </a:pPr>
            <a:r>
              <a:rPr lang="en-US" sz="2099" b="true">
                <a:solidFill>
                  <a:srgbClr val="FFFFFF"/>
                </a:solidFill>
                <a:latin typeface="Arimo Bold"/>
                <a:ea typeface="Arimo Bold"/>
                <a:cs typeface="Arimo Bold"/>
                <a:sym typeface="Arimo Bold"/>
              </a:rPr>
              <a:t>How Users Can Use It:</a:t>
            </a:r>
          </a:p>
          <a:p>
            <a:pPr algn="l">
              <a:lnSpc>
                <a:spcPts val="2938"/>
              </a:lnSpc>
            </a:pPr>
          </a:p>
          <a:p>
            <a:pPr algn="l" marL="453225" indent="-226612" lvl="1">
              <a:lnSpc>
                <a:spcPts val="2938"/>
              </a:lnSpc>
              <a:buAutoNum type="arabicPeriod" startAt="1"/>
            </a:pPr>
            <a:r>
              <a:rPr lang="en-US" b="true" sz="2099">
                <a:solidFill>
                  <a:srgbClr val="FFFFFF"/>
                </a:solidFill>
                <a:latin typeface="Arimo Bold"/>
                <a:ea typeface="Arimo Bold"/>
                <a:cs typeface="Arimo Bold"/>
                <a:sym typeface="Arimo Bold"/>
              </a:rPr>
              <a:t>Input Text: Users simply type or paste any news article or social media post into a designated text box.</a:t>
            </a:r>
          </a:p>
          <a:p>
            <a:pPr algn="l" marL="453225" indent="-226612" lvl="1">
              <a:lnSpc>
                <a:spcPts val="2938"/>
              </a:lnSpc>
              <a:buAutoNum type="arabicPeriod" startAt="1"/>
            </a:pPr>
            <a:r>
              <a:rPr lang="en-US" b="true" sz="2099">
                <a:solidFill>
                  <a:srgbClr val="FFFFFF"/>
                </a:solidFill>
                <a:latin typeface="Arimo Bold"/>
                <a:ea typeface="Arimo Bold"/>
                <a:cs typeface="Arimo Bold"/>
                <a:sym typeface="Arimo Bold"/>
              </a:rPr>
              <a:t>Predict: Upon clicking the 'Predict' button, the input text undergoes cleaning and is then simultaneously processed by all four trained models (Logistic Regression, LSTM, BERT, and RoBERTa).</a:t>
            </a:r>
          </a:p>
          <a:p>
            <a:pPr algn="l" marL="453225" indent="-226612" lvl="1">
              <a:lnSpc>
                <a:spcPts val="2938"/>
              </a:lnSpc>
              <a:buAutoNum type="arabicPeriod" startAt="1"/>
            </a:pPr>
            <a:r>
              <a:rPr lang="en-US" b="true" sz="2099">
                <a:solidFill>
                  <a:srgbClr val="FFFFFF"/>
                </a:solidFill>
                <a:latin typeface="Arimo Bold"/>
                <a:ea typeface="Arimo Bold"/>
                <a:cs typeface="Arimo Bold"/>
                <a:sym typeface="Arimo Bold"/>
              </a:rPr>
              <a:t>View Results: The interface instantly displays the predictions from each model (classified as 'REAL' or 'FAKE') side-by-side. This allows users to:</a:t>
            </a:r>
          </a:p>
          <a:p>
            <a:pPr algn="l" marL="906450" indent="-302150" lvl="2">
              <a:lnSpc>
                <a:spcPts val="2938"/>
              </a:lnSpc>
              <a:buFont typeface="Arial"/>
              <a:buChar char="⚬"/>
            </a:pPr>
            <a:r>
              <a:rPr lang="en-US" b="true" sz="2099">
                <a:solidFill>
                  <a:srgbClr val="FFFFFF"/>
                </a:solidFill>
                <a:latin typeface="Arimo Bold"/>
                <a:ea typeface="Arimo Bold"/>
                <a:cs typeface="Arimo Bold"/>
                <a:sym typeface="Arimo Bold"/>
              </a:rPr>
              <a:t>Experience real-time detection.</a:t>
            </a:r>
          </a:p>
          <a:p>
            <a:pPr algn="l" marL="906450" indent="-302150" lvl="2">
              <a:lnSpc>
                <a:spcPts val="2938"/>
              </a:lnSpc>
              <a:buFont typeface="Arial"/>
              <a:buChar char="⚬"/>
            </a:pPr>
            <a:r>
              <a:rPr lang="en-US" b="true" sz="2099">
                <a:solidFill>
                  <a:srgbClr val="FFFFFF"/>
                </a:solidFill>
                <a:latin typeface="Arimo Bold"/>
                <a:ea typeface="Arimo Bold"/>
                <a:cs typeface="Arimo Bold"/>
                <a:sym typeface="Arimo Bold"/>
              </a:rPr>
              <a:t>Compare how different models classify the same content.</a:t>
            </a:r>
          </a:p>
          <a:p>
            <a:pPr algn="l" marL="906450" indent="-302150" lvl="2">
              <a:lnSpc>
                <a:spcPts val="2938"/>
              </a:lnSpc>
              <a:buFont typeface="Arial"/>
              <a:buChar char="⚬"/>
            </a:pPr>
            <a:r>
              <a:rPr lang="en-US" b="true" sz="2099">
                <a:solidFill>
                  <a:srgbClr val="FFFFFF"/>
                </a:solidFill>
                <a:latin typeface="Arimo Bold"/>
                <a:ea typeface="Arimo Bold"/>
                <a:cs typeface="Arimo Bold"/>
                <a:sym typeface="Arimo Bold"/>
              </a:rPr>
              <a:t>Validate the robustness of our solutions in a practical setting.</a:t>
            </a:r>
          </a:p>
          <a:p>
            <a:pPr algn="l">
              <a:lnSpc>
                <a:spcPts val="4092"/>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098750" y="683284"/>
            <a:ext cx="9413549" cy="941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alphaModFix amt="37000"/>
              </a:blip>
              <a:stretch>
                <a:fillRect l="-25059" t="0" r="-25059" b="0"/>
              </a:stretch>
            </a:blipFill>
          </p:spPr>
        </p:sp>
      </p:grpSp>
      <p:sp>
        <p:nvSpPr>
          <p:cNvPr name="TextBox 4" id="4"/>
          <p:cNvSpPr txBox="true"/>
          <p:nvPr/>
        </p:nvSpPr>
        <p:spPr>
          <a:xfrm rot="0">
            <a:off x="1926665" y="990600"/>
            <a:ext cx="12837541" cy="1384301"/>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Problem</a:t>
            </a:r>
          </a:p>
          <a:p>
            <a:pPr algn="l">
              <a:lnSpc>
                <a:spcPts val="8560"/>
              </a:lnSpc>
            </a:pPr>
          </a:p>
        </p:txBody>
      </p:sp>
      <p:grpSp>
        <p:nvGrpSpPr>
          <p:cNvPr name="Group 5" id="5"/>
          <p:cNvGrpSpPr/>
          <p:nvPr/>
        </p:nvGrpSpPr>
        <p:grpSpPr>
          <a:xfrm rot="0">
            <a:off x="6393618" y="6367911"/>
            <a:ext cx="881574" cy="88157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8" id="8"/>
          <p:cNvGrpSpPr/>
          <p:nvPr/>
        </p:nvGrpSpPr>
        <p:grpSpPr>
          <a:xfrm rot="0">
            <a:off x="1028700" y="2439096"/>
            <a:ext cx="10070050" cy="7291165"/>
            <a:chOff x="0" y="0"/>
            <a:chExt cx="3242105" cy="2347428"/>
          </a:xfrm>
        </p:grpSpPr>
        <p:sp>
          <p:nvSpPr>
            <p:cNvPr name="Freeform 9" id="9"/>
            <p:cNvSpPr/>
            <p:nvPr/>
          </p:nvSpPr>
          <p:spPr>
            <a:xfrm flipH="false" flipV="false" rot="0">
              <a:off x="0" y="0"/>
              <a:ext cx="3242105" cy="2347428"/>
            </a:xfrm>
            <a:custGeom>
              <a:avLst/>
              <a:gdLst/>
              <a:ahLst/>
              <a:cxnLst/>
              <a:rect r="r" b="b" t="t" l="l"/>
              <a:pathLst>
                <a:path h="2347428" w="3242105">
                  <a:moveTo>
                    <a:pt x="31839" y="0"/>
                  </a:moveTo>
                  <a:lnTo>
                    <a:pt x="3210265" y="0"/>
                  </a:lnTo>
                  <a:cubicBezTo>
                    <a:pt x="3218710" y="0"/>
                    <a:pt x="3226808" y="3354"/>
                    <a:pt x="3232779" y="9325"/>
                  </a:cubicBezTo>
                  <a:cubicBezTo>
                    <a:pt x="3238750" y="15296"/>
                    <a:pt x="3242105" y="23395"/>
                    <a:pt x="3242105" y="31839"/>
                  </a:cubicBezTo>
                  <a:lnTo>
                    <a:pt x="3242105" y="2315589"/>
                  </a:lnTo>
                  <a:cubicBezTo>
                    <a:pt x="3242105" y="2333173"/>
                    <a:pt x="3227850" y="2347428"/>
                    <a:pt x="3210265" y="2347428"/>
                  </a:cubicBezTo>
                  <a:lnTo>
                    <a:pt x="31839" y="2347428"/>
                  </a:lnTo>
                  <a:cubicBezTo>
                    <a:pt x="14255" y="2347428"/>
                    <a:pt x="0" y="2333173"/>
                    <a:pt x="0" y="2315589"/>
                  </a:cubicBezTo>
                  <a:lnTo>
                    <a:pt x="0" y="31839"/>
                  </a:lnTo>
                  <a:cubicBezTo>
                    <a:pt x="0" y="14255"/>
                    <a:pt x="14255" y="0"/>
                    <a:pt x="31839" y="0"/>
                  </a:cubicBezTo>
                  <a:close/>
                </a:path>
              </a:pathLst>
            </a:custGeom>
            <a:gradFill rotWithShape="true">
              <a:gsLst>
                <a:gs pos="0">
                  <a:srgbClr val="240E3D">
                    <a:alpha val="100000"/>
                  </a:srgbClr>
                </a:gs>
                <a:gs pos="100000">
                  <a:srgbClr val="690088">
                    <a:alpha val="100000"/>
                  </a:srgbClr>
                </a:gs>
              </a:gsLst>
              <a:lin ang="0"/>
            </a:gradFill>
          </p:spPr>
        </p:sp>
        <p:sp>
          <p:nvSpPr>
            <p:cNvPr name="TextBox 10" id="10"/>
            <p:cNvSpPr txBox="true"/>
            <p:nvPr/>
          </p:nvSpPr>
          <p:spPr>
            <a:xfrm>
              <a:off x="0" y="-57150"/>
              <a:ext cx="3242105" cy="2404578"/>
            </a:xfrm>
            <a:prstGeom prst="rect">
              <a:avLst/>
            </a:prstGeom>
          </p:spPr>
          <p:txBody>
            <a:bodyPr anchor="ctr" rtlCol="false" tIns="50800" lIns="50800" bIns="50800" rIns="50800"/>
            <a:lstStyle/>
            <a:p>
              <a:pPr algn="ctr">
                <a:lnSpc>
                  <a:spcPts val="2799"/>
                </a:lnSpc>
              </a:pPr>
            </a:p>
          </p:txBody>
        </p:sp>
      </p:grpSp>
      <p:sp>
        <p:nvSpPr>
          <p:cNvPr name="Freeform 11" id="11"/>
          <p:cNvSpPr/>
          <p:nvPr/>
        </p:nvSpPr>
        <p:spPr>
          <a:xfrm flipH="false" flipV="false" rot="0">
            <a:off x="-88346" y="763011"/>
            <a:ext cx="13409679" cy="1676085"/>
          </a:xfrm>
          <a:custGeom>
            <a:avLst/>
            <a:gdLst/>
            <a:ahLst/>
            <a:cxnLst/>
            <a:rect r="r" b="b" t="t" l="l"/>
            <a:pathLst>
              <a:path h="1676085" w="13409679">
                <a:moveTo>
                  <a:pt x="0" y="0"/>
                </a:moveTo>
                <a:lnTo>
                  <a:pt x="13409679" y="0"/>
                </a:lnTo>
                <a:lnTo>
                  <a:pt x="13409679" y="1676085"/>
                </a:lnTo>
                <a:lnTo>
                  <a:pt x="0" y="1676085"/>
                </a:lnTo>
                <a:lnTo>
                  <a:pt x="0" y="0"/>
                </a:lnTo>
                <a:close/>
              </a:path>
            </a:pathLst>
          </a:custGeom>
          <a:blipFill>
            <a:blip r:embed="rId3"/>
            <a:stretch>
              <a:fillRect l="0" t="-122347" r="0" b="-294357"/>
            </a:stretch>
          </a:blipFill>
        </p:spPr>
      </p:sp>
      <p:sp>
        <p:nvSpPr>
          <p:cNvPr name="TextBox 12" id="12"/>
          <p:cNvSpPr txBox="true"/>
          <p:nvPr/>
        </p:nvSpPr>
        <p:spPr>
          <a:xfrm rot="0">
            <a:off x="1028700" y="2035052"/>
            <a:ext cx="7745027" cy="7584441"/>
          </a:xfrm>
          <a:prstGeom prst="rect">
            <a:avLst/>
          </a:prstGeom>
        </p:spPr>
        <p:txBody>
          <a:bodyPr anchor="t" rtlCol="false" tIns="0" lIns="0" bIns="0" rIns="0">
            <a:spAutoFit/>
          </a:bodyPr>
          <a:lstStyle/>
          <a:p>
            <a:pPr algn="l">
              <a:lnSpc>
                <a:spcPts val="6019"/>
              </a:lnSpc>
            </a:pPr>
          </a:p>
          <a:p>
            <a:pPr algn="l">
              <a:lnSpc>
                <a:spcPts val="4199"/>
              </a:lnSpc>
            </a:pPr>
          </a:p>
          <a:p>
            <a:pPr algn="l" marL="647695" indent="-323848" lvl="1">
              <a:lnSpc>
                <a:spcPts val="4199"/>
              </a:lnSpc>
              <a:buFont typeface="Arial"/>
              <a:buChar char="•"/>
            </a:pPr>
            <a:r>
              <a:rPr lang="en-US" sz="2999">
                <a:solidFill>
                  <a:srgbClr val="FFFFFF"/>
                </a:solidFill>
                <a:latin typeface="Arimo"/>
                <a:ea typeface="Arimo"/>
                <a:cs typeface="Arimo"/>
                <a:sym typeface="Arimo"/>
              </a:rPr>
              <a:t>Model achieved high accuracy on validation and test data.</a:t>
            </a:r>
          </a:p>
          <a:p>
            <a:pPr algn="l" marL="647695" indent="-323848" lvl="1">
              <a:lnSpc>
                <a:spcPts val="4199"/>
              </a:lnSpc>
              <a:buFont typeface="Arial"/>
              <a:buChar char="•"/>
            </a:pPr>
            <a:r>
              <a:rPr lang="en-US" sz="2999">
                <a:solidFill>
                  <a:srgbClr val="FFFFFF"/>
                </a:solidFill>
                <a:latin typeface="Arimo"/>
                <a:ea typeface="Arimo"/>
                <a:cs typeface="Arimo"/>
                <a:sym typeface="Arimo"/>
              </a:rPr>
              <a:t>Loss decreased steadily during training.</a:t>
            </a:r>
          </a:p>
          <a:p>
            <a:pPr algn="l" marL="647695" indent="-323848" lvl="1">
              <a:lnSpc>
                <a:spcPts val="4199"/>
              </a:lnSpc>
              <a:buFont typeface="Arial"/>
              <a:buChar char="•"/>
            </a:pPr>
            <a:r>
              <a:rPr lang="en-US" sz="2999">
                <a:solidFill>
                  <a:srgbClr val="FFFFFF"/>
                </a:solidFill>
                <a:latin typeface="Arimo"/>
                <a:ea typeface="Arimo"/>
                <a:cs typeface="Arimo"/>
                <a:sym typeface="Arimo"/>
              </a:rPr>
              <a:t>Precision and recall show strong performance for both classes.</a:t>
            </a:r>
          </a:p>
          <a:p>
            <a:pPr algn="l" marL="647695" indent="-323848" lvl="1">
              <a:lnSpc>
                <a:spcPts val="4199"/>
              </a:lnSpc>
              <a:buFont typeface="Arial"/>
              <a:buChar char="•"/>
            </a:pPr>
            <a:r>
              <a:rPr lang="en-US" sz="2999">
                <a:solidFill>
                  <a:srgbClr val="FFFFFF"/>
                </a:solidFill>
                <a:latin typeface="Arimo"/>
                <a:ea typeface="Arimo"/>
                <a:cs typeface="Arimo"/>
                <a:sym typeface="Arimo"/>
              </a:rPr>
              <a:t>Confusion matrix shows the model correctly differentiates REAL vs FAKE.</a:t>
            </a:r>
          </a:p>
          <a:p>
            <a:pPr algn="l" marL="647695" indent="-323848" lvl="1">
              <a:lnSpc>
                <a:spcPts val="4199"/>
              </a:lnSpc>
              <a:buFont typeface="Arial"/>
              <a:buChar char="•"/>
            </a:pPr>
            <a:r>
              <a:rPr lang="en-US" sz="2999">
                <a:solidFill>
                  <a:srgbClr val="FFFFFF"/>
                </a:solidFill>
                <a:latin typeface="Arimo"/>
                <a:ea typeface="Arimo"/>
                <a:cs typeface="Arimo"/>
                <a:sym typeface="Arimo"/>
              </a:rPr>
              <a:t>Outcome: A reliable and scalable fake-news detection system.</a:t>
            </a:r>
          </a:p>
          <a:p>
            <a:pPr algn="l">
              <a:lnSpc>
                <a:spcPts val="4199"/>
              </a:lnSpc>
            </a:pPr>
          </a:p>
          <a:p>
            <a:pPr algn="l">
              <a:lnSpc>
                <a:spcPts val="4199"/>
              </a:lnSpc>
            </a:pPr>
          </a:p>
          <a:p>
            <a:pPr algn="l">
              <a:lnSpc>
                <a:spcPts val="4199"/>
              </a:lnSpc>
            </a:pPr>
          </a:p>
        </p:txBody>
      </p:sp>
      <p:sp>
        <p:nvSpPr>
          <p:cNvPr name="TextBox 13" id="13"/>
          <p:cNvSpPr txBox="true"/>
          <p:nvPr/>
        </p:nvSpPr>
        <p:spPr>
          <a:xfrm rot="0">
            <a:off x="1191101" y="1064540"/>
            <a:ext cx="10850786" cy="1092077"/>
          </a:xfrm>
          <a:prstGeom prst="rect">
            <a:avLst/>
          </a:prstGeom>
        </p:spPr>
        <p:txBody>
          <a:bodyPr anchor="t" rtlCol="false" tIns="0" lIns="0" bIns="0" rIns="0">
            <a:spAutoFit/>
          </a:bodyPr>
          <a:lstStyle/>
          <a:p>
            <a:pPr algn="l">
              <a:lnSpc>
                <a:spcPts val="7811"/>
              </a:lnSpc>
            </a:pPr>
            <a:r>
              <a:rPr lang="en-US" sz="7300" b="true">
                <a:solidFill>
                  <a:srgbClr val="FFFFFF"/>
                </a:solidFill>
                <a:latin typeface="Poppins Bold"/>
                <a:ea typeface="Poppins Bold"/>
                <a:cs typeface="Poppins Bold"/>
                <a:sym typeface="Poppins Bold"/>
              </a:rPr>
              <a:t>Outcomes and Results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645599" y="1547761"/>
            <a:ext cx="20590236" cy="2059023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true" flipV="false" rot="0">
            <a:off x="9645599" y="4004114"/>
            <a:ext cx="10483567" cy="8229600"/>
          </a:xfrm>
          <a:custGeom>
            <a:avLst/>
            <a:gdLst/>
            <a:ahLst/>
            <a:cxnLst/>
            <a:rect r="r" b="b" t="t" l="l"/>
            <a:pathLst>
              <a:path h="8229600" w="10483567">
                <a:moveTo>
                  <a:pt x="10483566" y="0"/>
                </a:moveTo>
                <a:lnTo>
                  <a:pt x="0" y="0"/>
                </a:lnTo>
                <a:lnTo>
                  <a:pt x="0" y="8229600"/>
                </a:lnTo>
                <a:lnTo>
                  <a:pt x="10483566" y="8229600"/>
                </a:lnTo>
                <a:lnTo>
                  <a:pt x="10483566" y="0"/>
                </a:lnTo>
                <a:close/>
              </a:path>
            </a:pathLst>
          </a:custGeom>
          <a:blipFill>
            <a:blip r:embed="rId2"/>
            <a:stretch>
              <a:fillRect l="0" t="0" r="0" b="0"/>
            </a:stretch>
          </a:blipFill>
        </p:spPr>
      </p:sp>
      <p:grpSp>
        <p:nvGrpSpPr>
          <p:cNvPr name="Group 6" id="6"/>
          <p:cNvGrpSpPr/>
          <p:nvPr/>
        </p:nvGrpSpPr>
        <p:grpSpPr>
          <a:xfrm rot="0">
            <a:off x="6393569" y="7797889"/>
            <a:ext cx="321025" cy="3210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10196188" y="2529803"/>
            <a:ext cx="881574" cy="88157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gradFill>
                <a:gsLst>
                  <a:gs pos="0">
                    <a:srgbClr val="240E3D">
                      <a:alpha val="100000"/>
                    </a:srgbClr>
                  </a:gs>
                  <a:gs pos="100000">
                    <a:srgbClr val="690088">
                      <a:alpha val="100000"/>
                    </a:srgbClr>
                  </a:gs>
                </a:gsLst>
                <a:lin ang="0"/>
              </a:gradFill>
              <a:prstDash val="solid"/>
              <a:miter/>
            </a:ln>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0324062" y="2657677"/>
            <a:ext cx="625825" cy="62582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40E3D">
                    <a:alpha val="100000"/>
                  </a:srgbClr>
                </a:gs>
                <a:gs pos="100000">
                  <a:srgbClr val="690088">
                    <a:alpha val="100000"/>
                  </a:srgbClr>
                </a:gs>
              </a:gsLst>
              <a:lin ang="0"/>
            </a:gra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799"/>
                </a:lnSpc>
              </a:pPr>
            </a:p>
          </p:txBody>
        </p:sp>
      </p:grpSp>
      <p:sp>
        <p:nvSpPr>
          <p:cNvPr name="Freeform 15" id="15"/>
          <p:cNvSpPr/>
          <p:nvPr/>
        </p:nvSpPr>
        <p:spPr>
          <a:xfrm flipH="false" flipV="false" rot="0">
            <a:off x="797077" y="-825117"/>
            <a:ext cx="2888965" cy="2600608"/>
          </a:xfrm>
          <a:custGeom>
            <a:avLst/>
            <a:gdLst/>
            <a:ahLst/>
            <a:cxnLst/>
            <a:rect r="r" b="b" t="t" l="l"/>
            <a:pathLst>
              <a:path h="2600608" w="2888965">
                <a:moveTo>
                  <a:pt x="0" y="0"/>
                </a:moveTo>
                <a:lnTo>
                  <a:pt x="2888965" y="0"/>
                </a:lnTo>
                <a:lnTo>
                  <a:pt x="2888965" y="2600608"/>
                </a:lnTo>
                <a:lnTo>
                  <a:pt x="0" y="2600608"/>
                </a:lnTo>
                <a:lnTo>
                  <a:pt x="0" y="0"/>
                </a:lnTo>
                <a:close/>
              </a:path>
            </a:pathLst>
          </a:custGeom>
          <a:blipFill>
            <a:blip r:embed="rId3"/>
            <a:stretch>
              <a:fillRect l="0" t="0" r="0" b="0"/>
            </a:stretch>
          </a:blipFill>
        </p:spPr>
      </p:sp>
      <p:sp>
        <p:nvSpPr>
          <p:cNvPr name="Freeform 16" id="16"/>
          <p:cNvSpPr/>
          <p:nvPr/>
        </p:nvSpPr>
        <p:spPr>
          <a:xfrm flipH="false" flipV="false" rot="0">
            <a:off x="797077" y="2022561"/>
            <a:ext cx="8848521" cy="4070320"/>
          </a:xfrm>
          <a:custGeom>
            <a:avLst/>
            <a:gdLst/>
            <a:ahLst/>
            <a:cxnLst/>
            <a:rect r="r" b="b" t="t" l="l"/>
            <a:pathLst>
              <a:path h="4070320" w="8848521">
                <a:moveTo>
                  <a:pt x="0" y="0"/>
                </a:moveTo>
                <a:lnTo>
                  <a:pt x="8848522" y="0"/>
                </a:lnTo>
                <a:lnTo>
                  <a:pt x="8848522" y="4070320"/>
                </a:lnTo>
                <a:lnTo>
                  <a:pt x="0" y="4070320"/>
                </a:lnTo>
                <a:lnTo>
                  <a:pt x="0" y="0"/>
                </a:lnTo>
                <a:close/>
              </a:path>
            </a:pathLst>
          </a:custGeom>
          <a:blipFill>
            <a:blip r:embed="rId4">
              <a:alphaModFix amt="57000"/>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028700" y="5462837"/>
            <a:ext cx="2979778" cy="2495564"/>
          </a:xfrm>
          <a:custGeom>
            <a:avLst/>
            <a:gdLst/>
            <a:ahLst/>
            <a:cxnLst/>
            <a:rect r="r" b="b" t="t" l="l"/>
            <a:pathLst>
              <a:path h="2495564" w="2979778">
                <a:moveTo>
                  <a:pt x="0" y="0"/>
                </a:moveTo>
                <a:lnTo>
                  <a:pt x="2979778" y="0"/>
                </a:lnTo>
                <a:lnTo>
                  <a:pt x="2979778" y="2495565"/>
                </a:lnTo>
                <a:lnTo>
                  <a:pt x="0" y="2495565"/>
                </a:lnTo>
                <a:lnTo>
                  <a:pt x="0" y="0"/>
                </a:lnTo>
                <a:close/>
              </a:path>
            </a:pathLst>
          </a:custGeom>
          <a:blipFill>
            <a:blip r:embed="rId6"/>
            <a:stretch>
              <a:fillRect l="0" t="0" r="0" b="0"/>
            </a:stretch>
          </a:blipFill>
        </p:spPr>
      </p:sp>
      <p:sp>
        <p:nvSpPr>
          <p:cNvPr name="TextBox 18" id="18"/>
          <p:cNvSpPr txBox="true"/>
          <p:nvPr/>
        </p:nvSpPr>
        <p:spPr>
          <a:xfrm rot="0">
            <a:off x="797077" y="3236733"/>
            <a:ext cx="8391380" cy="1572861"/>
          </a:xfrm>
          <a:prstGeom prst="rect">
            <a:avLst/>
          </a:prstGeom>
        </p:spPr>
        <p:txBody>
          <a:bodyPr anchor="t" rtlCol="false" tIns="0" lIns="0" bIns="0" rIns="0">
            <a:spAutoFit/>
          </a:bodyPr>
          <a:lstStyle/>
          <a:p>
            <a:pPr algn="l" marL="0" indent="0" lvl="0">
              <a:lnSpc>
                <a:spcPts val="11371"/>
              </a:lnSpc>
              <a:spcBef>
                <a:spcPct val="0"/>
              </a:spcBef>
            </a:pPr>
            <a:r>
              <a:rPr lang="en-US" b="true" sz="10627" strike="noStrike" u="none">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DAG6ehJOTVI</dc:identifier>
  <dcterms:modified xsi:type="dcterms:W3CDTF">2011-08-01T06:04:30Z</dcterms:modified>
  <cp:revision>1</cp:revision>
  <dc:title>نسخة من GSEM 200 Hams</dc:title>
</cp:coreProperties>
</file>